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53D5F-B666-B4F2-BAE5-2FD8AFC947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6AF900-A28B-4069-9956-4048C84874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C2D409-F7FC-A671-7DC4-B7EA920E2083}"/>
              </a:ext>
            </a:extLst>
          </p:cNvPr>
          <p:cNvSpPr>
            <a:spLocks noGrp="1"/>
          </p:cNvSpPr>
          <p:nvPr>
            <p:ph type="dt" sz="half" idx="10"/>
          </p:nvPr>
        </p:nvSpPr>
        <p:spPr/>
        <p:txBody>
          <a:bodyPr/>
          <a:lstStyle/>
          <a:p>
            <a:fld id="{E08357C7-580B-4A2A-BBB1-529821E2E3C7}" type="datetimeFigureOut">
              <a:rPr lang="en-IN" smtClean="0"/>
              <a:t>16-04-2025</a:t>
            </a:fld>
            <a:endParaRPr lang="en-IN"/>
          </a:p>
        </p:txBody>
      </p:sp>
      <p:sp>
        <p:nvSpPr>
          <p:cNvPr id="5" name="Footer Placeholder 4">
            <a:extLst>
              <a:ext uri="{FF2B5EF4-FFF2-40B4-BE49-F238E27FC236}">
                <a16:creationId xmlns:a16="http://schemas.microsoft.com/office/drawing/2014/main" id="{099F1A52-8BDF-5610-F340-FCF0A59319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5C04E6-F7CA-9989-7330-F91CD071522E}"/>
              </a:ext>
            </a:extLst>
          </p:cNvPr>
          <p:cNvSpPr>
            <a:spLocks noGrp="1"/>
          </p:cNvSpPr>
          <p:nvPr>
            <p:ph type="sldNum" sz="quarter" idx="12"/>
          </p:nvPr>
        </p:nvSpPr>
        <p:spPr/>
        <p:txBody>
          <a:bodyPr/>
          <a:lstStyle/>
          <a:p>
            <a:fld id="{B4D9215A-BBD7-4EA3-A180-3B547E3468E2}" type="slidenum">
              <a:rPr lang="en-IN" smtClean="0"/>
              <a:t>‹#›</a:t>
            </a:fld>
            <a:endParaRPr lang="en-IN"/>
          </a:p>
        </p:txBody>
      </p:sp>
    </p:spTree>
    <p:extLst>
      <p:ext uri="{BB962C8B-B14F-4D97-AF65-F5344CB8AC3E}">
        <p14:creationId xmlns:p14="http://schemas.microsoft.com/office/powerpoint/2010/main" val="4115529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4A2C1-FA1A-914A-6278-B415B94CAE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D9FB51-9EEE-D5EA-FF0E-66065DD8FE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E8CD34-E928-6F8D-7633-4B098041A57B}"/>
              </a:ext>
            </a:extLst>
          </p:cNvPr>
          <p:cNvSpPr>
            <a:spLocks noGrp="1"/>
          </p:cNvSpPr>
          <p:nvPr>
            <p:ph type="dt" sz="half" idx="10"/>
          </p:nvPr>
        </p:nvSpPr>
        <p:spPr/>
        <p:txBody>
          <a:bodyPr/>
          <a:lstStyle/>
          <a:p>
            <a:fld id="{E08357C7-580B-4A2A-BBB1-529821E2E3C7}" type="datetimeFigureOut">
              <a:rPr lang="en-IN" smtClean="0"/>
              <a:t>16-04-2025</a:t>
            </a:fld>
            <a:endParaRPr lang="en-IN"/>
          </a:p>
        </p:txBody>
      </p:sp>
      <p:sp>
        <p:nvSpPr>
          <p:cNvPr id="5" name="Footer Placeholder 4">
            <a:extLst>
              <a:ext uri="{FF2B5EF4-FFF2-40B4-BE49-F238E27FC236}">
                <a16:creationId xmlns:a16="http://schemas.microsoft.com/office/drawing/2014/main" id="{0EC674C2-7542-E55D-5639-D5006444D2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7FF07C-28FC-BA94-1E56-BA917CAAAD3E}"/>
              </a:ext>
            </a:extLst>
          </p:cNvPr>
          <p:cNvSpPr>
            <a:spLocks noGrp="1"/>
          </p:cNvSpPr>
          <p:nvPr>
            <p:ph type="sldNum" sz="quarter" idx="12"/>
          </p:nvPr>
        </p:nvSpPr>
        <p:spPr/>
        <p:txBody>
          <a:bodyPr/>
          <a:lstStyle/>
          <a:p>
            <a:fld id="{B4D9215A-BBD7-4EA3-A180-3B547E3468E2}" type="slidenum">
              <a:rPr lang="en-IN" smtClean="0"/>
              <a:t>‹#›</a:t>
            </a:fld>
            <a:endParaRPr lang="en-IN"/>
          </a:p>
        </p:txBody>
      </p:sp>
    </p:spTree>
    <p:extLst>
      <p:ext uri="{BB962C8B-B14F-4D97-AF65-F5344CB8AC3E}">
        <p14:creationId xmlns:p14="http://schemas.microsoft.com/office/powerpoint/2010/main" val="3267527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FD6B1-CBE9-CC55-CF34-39B6B9E31C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9B3A5F-2359-A19B-628F-475B097202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0B8E9F-F08D-5051-62D2-E77FB55700F7}"/>
              </a:ext>
            </a:extLst>
          </p:cNvPr>
          <p:cNvSpPr>
            <a:spLocks noGrp="1"/>
          </p:cNvSpPr>
          <p:nvPr>
            <p:ph type="dt" sz="half" idx="10"/>
          </p:nvPr>
        </p:nvSpPr>
        <p:spPr/>
        <p:txBody>
          <a:bodyPr/>
          <a:lstStyle/>
          <a:p>
            <a:fld id="{E08357C7-580B-4A2A-BBB1-529821E2E3C7}" type="datetimeFigureOut">
              <a:rPr lang="en-IN" smtClean="0"/>
              <a:t>16-04-2025</a:t>
            </a:fld>
            <a:endParaRPr lang="en-IN"/>
          </a:p>
        </p:txBody>
      </p:sp>
      <p:sp>
        <p:nvSpPr>
          <p:cNvPr id="5" name="Footer Placeholder 4">
            <a:extLst>
              <a:ext uri="{FF2B5EF4-FFF2-40B4-BE49-F238E27FC236}">
                <a16:creationId xmlns:a16="http://schemas.microsoft.com/office/drawing/2014/main" id="{4F644870-A185-B857-78DE-A716DCCE1A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95883E-1D02-A291-B2F1-BDB14849EA9F}"/>
              </a:ext>
            </a:extLst>
          </p:cNvPr>
          <p:cNvSpPr>
            <a:spLocks noGrp="1"/>
          </p:cNvSpPr>
          <p:nvPr>
            <p:ph type="sldNum" sz="quarter" idx="12"/>
          </p:nvPr>
        </p:nvSpPr>
        <p:spPr/>
        <p:txBody>
          <a:bodyPr/>
          <a:lstStyle/>
          <a:p>
            <a:fld id="{B4D9215A-BBD7-4EA3-A180-3B547E3468E2}" type="slidenum">
              <a:rPr lang="en-IN" smtClean="0"/>
              <a:t>‹#›</a:t>
            </a:fld>
            <a:endParaRPr lang="en-IN"/>
          </a:p>
        </p:txBody>
      </p:sp>
    </p:spTree>
    <p:extLst>
      <p:ext uri="{BB962C8B-B14F-4D97-AF65-F5344CB8AC3E}">
        <p14:creationId xmlns:p14="http://schemas.microsoft.com/office/powerpoint/2010/main" val="2190530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133C-E265-BAC2-FD85-1F7D9F8122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B474FC-84AD-3F88-449D-4A3A6D72B1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A2DA6B-F178-B317-4521-FB25AEFBC8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F09969-2493-978C-67C8-3F8BE4C1DFF0}"/>
              </a:ext>
            </a:extLst>
          </p:cNvPr>
          <p:cNvSpPr>
            <a:spLocks noGrp="1"/>
          </p:cNvSpPr>
          <p:nvPr>
            <p:ph type="dt" sz="half" idx="10"/>
          </p:nvPr>
        </p:nvSpPr>
        <p:spPr/>
        <p:txBody>
          <a:bodyPr/>
          <a:lstStyle/>
          <a:p>
            <a:fld id="{E08357C7-580B-4A2A-BBB1-529821E2E3C7}" type="datetimeFigureOut">
              <a:rPr lang="en-IN" smtClean="0"/>
              <a:t>16-04-2025</a:t>
            </a:fld>
            <a:endParaRPr lang="en-IN"/>
          </a:p>
        </p:txBody>
      </p:sp>
      <p:sp>
        <p:nvSpPr>
          <p:cNvPr id="6" name="Footer Placeholder 5">
            <a:extLst>
              <a:ext uri="{FF2B5EF4-FFF2-40B4-BE49-F238E27FC236}">
                <a16:creationId xmlns:a16="http://schemas.microsoft.com/office/drawing/2014/main" id="{0F214423-143E-02D2-F64E-17D752906B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946877-984C-3122-E086-A86A4A4C991A}"/>
              </a:ext>
            </a:extLst>
          </p:cNvPr>
          <p:cNvSpPr>
            <a:spLocks noGrp="1"/>
          </p:cNvSpPr>
          <p:nvPr>
            <p:ph type="sldNum" sz="quarter" idx="12"/>
          </p:nvPr>
        </p:nvSpPr>
        <p:spPr/>
        <p:txBody>
          <a:bodyPr/>
          <a:lstStyle/>
          <a:p>
            <a:fld id="{B4D9215A-BBD7-4EA3-A180-3B547E3468E2}" type="slidenum">
              <a:rPr lang="en-IN" smtClean="0"/>
              <a:t>‹#›</a:t>
            </a:fld>
            <a:endParaRPr lang="en-IN"/>
          </a:p>
        </p:txBody>
      </p:sp>
    </p:spTree>
    <p:extLst>
      <p:ext uri="{BB962C8B-B14F-4D97-AF65-F5344CB8AC3E}">
        <p14:creationId xmlns:p14="http://schemas.microsoft.com/office/powerpoint/2010/main" val="4084682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4F938-C097-F7FA-EF59-836F7C217A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B4F670-E501-1CF5-BD0B-80F2FCAF67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9C9408-4F4C-6CD1-67C4-A2CBBCAE8F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2EA6B28-9223-49E8-4105-8E8491438F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72C396-BBF9-F446-CE35-1D652C31C3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8B3A46-C8B3-B7C9-467F-8A7E0993A8B2}"/>
              </a:ext>
            </a:extLst>
          </p:cNvPr>
          <p:cNvSpPr>
            <a:spLocks noGrp="1"/>
          </p:cNvSpPr>
          <p:nvPr>
            <p:ph type="dt" sz="half" idx="10"/>
          </p:nvPr>
        </p:nvSpPr>
        <p:spPr/>
        <p:txBody>
          <a:bodyPr/>
          <a:lstStyle/>
          <a:p>
            <a:fld id="{E08357C7-580B-4A2A-BBB1-529821E2E3C7}" type="datetimeFigureOut">
              <a:rPr lang="en-IN" smtClean="0"/>
              <a:t>16-04-2025</a:t>
            </a:fld>
            <a:endParaRPr lang="en-IN"/>
          </a:p>
        </p:txBody>
      </p:sp>
      <p:sp>
        <p:nvSpPr>
          <p:cNvPr id="8" name="Footer Placeholder 7">
            <a:extLst>
              <a:ext uri="{FF2B5EF4-FFF2-40B4-BE49-F238E27FC236}">
                <a16:creationId xmlns:a16="http://schemas.microsoft.com/office/drawing/2014/main" id="{B0CA087B-1F0E-30CC-95F4-326F691FC8D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AD979D1-D7C7-31B0-2AEB-A6FA568D3109}"/>
              </a:ext>
            </a:extLst>
          </p:cNvPr>
          <p:cNvSpPr>
            <a:spLocks noGrp="1"/>
          </p:cNvSpPr>
          <p:nvPr>
            <p:ph type="sldNum" sz="quarter" idx="12"/>
          </p:nvPr>
        </p:nvSpPr>
        <p:spPr/>
        <p:txBody>
          <a:bodyPr/>
          <a:lstStyle/>
          <a:p>
            <a:fld id="{B4D9215A-BBD7-4EA3-A180-3B547E3468E2}" type="slidenum">
              <a:rPr lang="en-IN" smtClean="0"/>
              <a:t>‹#›</a:t>
            </a:fld>
            <a:endParaRPr lang="en-IN"/>
          </a:p>
        </p:txBody>
      </p:sp>
    </p:spTree>
    <p:extLst>
      <p:ext uri="{BB962C8B-B14F-4D97-AF65-F5344CB8AC3E}">
        <p14:creationId xmlns:p14="http://schemas.microsoft.com/office/powerpoint/2010/main" val="1566625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C2EE8-6AEF-F95E-BAE4-1320A61F4F4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C080847-5F0C-57E7-DD29-8E381089A131}"/>
              </a:ext>
            </a:extLst>
          </p:cNvPr>
          <p:cNvSpPr>
            <a:spLocks noGrp="1"/>
          </p:cNvSpPr>
          <p:nvPr>
            <p:ph type="dt" sz="half" idx="10"/>
          </p:nvPr>
        </p:nvSpPr>
        <p:spPr/>
        <p:txBody>
          <a:bodyPr/>
          <a:lstStyle/>
          <a:p>
            <a:fld id="{E08357C7-580B-4A2A-BBB1-529821E2E3C7}" type="datetimeFigureOut">
              <a:rPr lang="en-IN" smtClean="0"/>
              <a:t>16-04-2025</a:t>
            </a:fld>
            <a:endParaRPr lang="en-IN"/>
          </a:p>
        </p:txBody>
      </p:sp>
      <p:sp>
        <p:nvSpPr>
          <p:cNvPr id="4" name="Footer Placeholder 3">
            <a:extLst>
              <a:ext uri="{FF2B5EF4-FFF2-40B4-BE49-F238E27FC236}">
                <a16:creationId xmlns:a16="http://schemas.microsoft.com/office/drawing/2014/main" id="{DC8C97EB-A358-1383-78AF-9B52EF242A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6D581A-CD1E-C88A-7540-F6555E1BA61E}"/>
              </a:ext>
            </a:extLst>
          </p:cNvPr>
          <p:cNvSpPr>
            <a:spLocks noGrp="1"/>
          </p:cNvSpPr>
          <p:nvPr>
            <p:ph type="sldNum" sz="quarter" idx="12"/>
          </p:nvPr>
        </p:nvSpPr>
        <p:spPr/>
        <p:txBody>
          <a:bodyPr/>
          <a:lstStyle/>
          <a:p>
            <a:fld id="{B4D9215A-BBD7-4EA3-A180-3B547E3468E2}" type="slidenum">
              <a:rPr lang="en-IN" smtClean="0"/>
              <a:t>‹#›</a:t>
            </a:fld>
            <a:endParaRPr lang="en-IN"/>
          </a:p>
        </p:txBody>
      </p:sp>
    </p:spTree>
    <p:extLst>
      <p:ext uri="{BB962C8B-B14F-4D97-AF65-F5344CB8AC3E}">
        <p14:creationId xmlns:p14="http://schemas.microsoft.com/office/powerpoint/2010/main" val="2687515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BA094A-3E69-329F-2482-FB795C414BC7}"/>
              </a:ext>
            </a:extLst>
          </p:cNvPr>
          <p:cNvSpPr>
            <a:spLocks noGrp="1"/>
          </p:cNvSpPr>
          <p:nvPr>
            <p:ph type="dt" sz="half" idx="10"/>
          </p:nvPr>
        </p:nvSpPr>
        <p:spPr/>
        <p:txBody>
          <a:bodyPr/>
          <a:lstStyle/>
          <a:p>
            <a:fld id="{E08357C7-580B-4A2A-BBB1-529821E2E3C7}" type="datetimeFigureOut">
              <a:rPr lang="en-IN" smtClean="0"/>
              <a:t>16-04-2025</a:t>
            </a:fld>
            <a:endParaRPr lang="en-IN"/>
          </a:p>
        </p:txBody>
      </p:sp>
      <p:sp>
        <p:nvSpPr>
          <p:cNvPr id="3" name="Footer Placeholder 2">
            <a:extLst>
              <a:ext uri="{FF2B5EF4-FFF2-40B4-BE49-F238E27FC236}">
                <a16:creationId xmlns:a16="http://schemas.microsoft.com/office/drawing/2014/main" id="{187331E2-B489-CFD3-8F19-AE9F7E7762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FCF4DD-566D-EEAA-D689-B446B61AA0E8}"/>
              </a:ext>
            </a:extLst>
          </p:cNvPr>
          <p:cNvSpPr>
            <a:spLocks noGrp="1"/>
          </p:cNvSpPr>
          <p:nvPr>
            <p:ph type="sldNum" sz="quarter" idx="12"/>
          </p:nvPr>
        </p:nvSpPr>
        <p:spPr/>
        <p:txBody>
          <a:bodyPr/>
          <a:lstStyle/>
          <a:p>
            <a:fld id="{B4D9215A-BBD7-4EA3-A180-3B547E3468E2}" type="slidenum">
              <a:rPr lang="en-IN" smtClean="0"/>
              <a:t>‹#›</a:t>
            </a:fld>
            <a:endParaRPr lang="en-IN"/>
          </a:p>
        </p:txBody>
      </p:sp>
    </p:spTree>
    <p:extLst>
      <p:ext uri="{BB962C8B-B14F-4D97-AF65-F5344CB8AC3E}">
        <p14:creationId xmlns:p14="http://schemas.microsoft.com/office/powerpoint/2010/main" val="2885507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BC973-F338-4F2A-90EA-5AA1F2B08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5A5CC1F-0C00-DFAC-F54E-0313E59DBB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672CAFC-6E1D-F753-A671-3DFA75336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E94283-3940-6B83-13C8-7A9390F2A987}"/>
              </a:ext>
            </a:extLst>
          </p:cNvPr>
          <p:cNvSpPr>
            <a:spLocks noGrp="1"/>
          </p:cNvSpPr>
          <p:nvPr>
            <p:ph type="dt" sz="half" idx="10"/>
          </p:nvPr>
        </p:nvSpPr>
        <p:spPr/>
        <p:txBody>
          <a:bodyPr/>
          <a:lstStyle/>
          <a:p>
            <a:fld id="{E08357C7-580B-4A2A-BBB1-529821E2E3C7}" type="datetimeFigureOut">
              <a:rPr lang="en-IN" smtClean="0"/>
              <a:t>16-04-2025</a:t>
            </a:fld>
            <a:endParaRPr lang="en-IN"/>
          </a:p>
        </p:txBody>
      </p:sp>
      <p:sp>
        <p:nvSpPr>
          <p:cNvPr id="6" name="Footer Placeholder 5">
            <a:extLst>
              <a:ext uri="{FF2B5EF4-FFF2-40B4-BE49-F238E27FC236}">
                <a16:creationId xmlns:a16="http://schemas.microsoft.com/office/drawing/2014/main" id="{FA559F52-3FA4-8F3F-F96A-DA242F648C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4AA1F3-7FDE-4096-2916-BBB828824B32}"/>
              </a:ext>
            </a:extLst>
          </p:cNvPr>
          <p:cNvSpPr>
            <a:spLocks noGrp="1"/>
          </p:cNvSpPr>
          <p:nvPr>
            <p:ph type="sldNum" sz="quarter" idx="12"/>
          </p:nvPr>
        </p:nvSpPr>
        <p:spPr/>
        <p:txBody>
          <a:bodyPr/>
          <a:lstStyle/>
          <a:p>
            <a:fld id="{B4D9215A-BBD7-4EA3-A180-3B547E3468E2}" type="slidenum">
              <a:rPr lang="en-IN" smtClean="0"/>
              <a:t>‹#›</a:t>
            </a:fld>
            <a:endParaRPr lang="en-IN"/>
          </a:p>
        </p:txBody>
      </p:sp>
    </p:spTree>
    <p:extLst>
      <p:ext uri="{BB962C8B-B14F-4D97-AF65-F5344CB8AC3E}">
        <p14:creationId xmlns:p14="http://schemas.microsoft.com/office/powerpoint/2010/main" val="3591176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6F0B0-3EDB-7219-5B97-47B1DC5F8A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D5C6CA6-596A-9D11-AE8D-2001A81E2E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BA5659-648A-5EA8-59B2-6490995CC8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3BDBC7-1A91-6371-F389-3CE417CDBE9A}"/>
              </a:ext>
            </a:extLst>
          </p:cNvPr>
          <p:cNvSpPr>
            <a:spLocks noGrp="1"/>
          </p:cNvSpPr>
          <p:nvPr>
            <p:ph type="dt" sz="half" idx="10"/>
          </p:nvPr>
        </p:nvSpPr>
        <p:spPr/>
        <p:txBody>
          <a:bodyPr/>
          <a:lstStyle/>
          <a:p>
            <a:fld id="{E08357C7-580B-4A2A-BBB1-529821E2E3C7}" type="datetimeFigureOut">
              <a:rPr lang="en-IN" smtClean="0"/>
              <a:t>16-04-2025</a:t>
            </a:fld>
            <a:endParaRPr lang="en-IN"/>
          </a:p>
        </p:txBody>
      </p:sp>
      <p:sp>
        <p:nvSpPr>
          <p:cNvPr id="6" name="Footer Placeholder 5">
            <a:extLst>
              <a:ext uri="{FF2B5EF4-FFF2-40B4-BE49-F238E27FC236}">
                <a16:creationId xmlns:a16="http://schemas.microsoft.com/office/drawing/2014/main" id="{A558E53E-96E0-CAFA-0E38-D3059BD95D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908530-65AC-90BE-B7CB-9D1E563FA5C2}"/>
              </a:ext>
            </a:extLst>
          </p:cNvPr>
          <p:cNvSpPr>
            <a:spLocks noGrp="1"/>
          </p:cNvSpPr>
          <p:nvPr>
            <p:ph type="sldNum" sz="quarter" idx="12"/>
          </p:nvPr>
        </p:nvSpPr>
        <p:spPr/>
        <p:txBody>
          <a:bodyPr/>
          <a:lstStyle/>
          <a:p>
            <a:fld id="{B4D9215A-BBD7-4EA3-A180-3B547E3468E2}" type="slidenum">
              <a:rPr lang="en-IN" smtClean="0"/>
              <a:t>‹#›</a:t>
            </a:fld>
            <a:endParaRPr lang="en-IN"/>
          </a:p>
        </p:txBody>
      </p:sp>
    </p:spTree>
    <p:extLst>
      <p:ext uri="{BB962C8B-B14F-4D97-AF65-F5344CB8AC3E}">
        <p14:creationId xmlns:p14="http://schemas.microsoft.com/office/powerpoint/2010/main" val="3061193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5D681-5330-DB79-4D08-E5EB2183126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4E7222-B651-D263-F618-705A89652B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01F12A-A3DE-5EDA-B16A-02F16E4AED2B}"/>
              </a:ext>
            </a:extLst>
          </p:cNvPr>
          <p:cNvSpPr>
            <a:spLocks noGrp="1"/>
          </p:cNvSpPr>
          <p:nvPr>
            <p:ph type="dt" sz="half" idx="10"/>
          </p:nvPr>
        </p:nvSpPr>
        <p:spPr/>
        <p:txBody>
          <a:bodyPr/>
          <a:lstStyle/>
          <a:p>
            <a:fld id="{E08357C7-580B-4A2A-BBB1-529821E2E3C7}" type="datetimeFigureOut">
              <a:rPr lang="en-IN" smtClean="0"/>
              <a:t>16-04-2025</a:t>
            </a:fld>
            <a:endParaRPr lang="en-IN"/>
          </a:p>
        </p:txBody>
      </p:sp>
      <p:sp>
        <p:nvSpPr>
          <p:cNvPr id="5" name="Footer Placeholder 4">
            <a:extLst>
              <a:ext uri="{FF2B5EF4-FFF2-40B4-BE49-F238E27FC236}">
                <a16:creationId xmlns:a16="http://schemas.microsoft.com/office/drawing/2014/main" id="{EB9CCD90-3BC5-7F0D-210B-E12C245FBF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FAEB4A-C6C7-D295-1A89-99B78209753C}"/>
              </a:ext>
            </a:extLst>
          </p:cNvPr>
          <p:cNvSpPr>
            <a:spLocks noGrp="1"/>
          </p:cNvSpPr>
          <p:nvPr>
            <p:ph type="sldNum" sz="quarter" idx="12"/>
          </p:nvPr>
        </p:nvSpPr>
        <p:spPr/>
        <p:txBody>
          <a:bodyPr/>
          <a:lstStyle/>
          <a:p>
            <a:fld id="{B4D9215A-BBD7-4EA3-A180-3B547E3468E2}" type="slidenum">
              <a:rPr lang="en-IN" smtClean="0"/>
              <a:t>‹#›</a:t>
            </a:fld>
            <a:endParaRPr lang="en-IN"/>
          </a:p>
        </p:txBody>
      </p:sp>
    </p:spTree>
    <p:extLst>
      <p:ext uri="{BB962C8B-B14F-4D97-AF65-F5344CB8AC3E}">
        <p14:creationId xmlns:p14="http://schemas.microsoft.com/office/powerpoint/2010/main" val="4052161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863452-E9B2-B86B-6BDB-E08897D24A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CFB605-17C0-F739-E2C4-1276DA0B51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E7B6F5-CB44-96B4-421D-50B3CDD83859}"/>
              </a:ext>
            </a:extLst>
          </p:cNvPr>
          <p:cNvSpPr>
            <a:spLocks noGrp="1"/>
          </p:cNvSpPr>
          <p:nvPr>
            <p:ph type="dt" sz="half" idx="10"/>
          </p:nvPr>
        </p:nvSpPr>
        <p:spPr/>
        <p:txBody>
          <a:bodyPr/>
          <a:lstStyle/>
          <a:p>
            <a:fld id="{E08357C7-580B-4A2A-BBB1-529821E2E3C7}" type="datetimeFigureOut">
              <a:rPr lang="en-IN" smtClean="0"/>
              <a:t>16-04-2025</a:t>
            </a:fld>
            <a:endParaRPr lang="en-IN"/>
          </a:p>
        </p:txBody>
      </p:sp>
      <p:sp>
        <p:nvSpPr>
          <p:cNvPr id="5" name="Footer Placeholder 4">
            <a:extLst>
              <a:ext uri="{FF2B5EF4-FFF2-40B4-BE49-F238E27FC236}">
                <a16:creationId xmlns:a16="http://schemas.microsoft.com/office/drawing/2014/main" id="{4D6D9ABC-B261-36DE-96FF-9764F8D893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562D05-D632-CBBA-3ABD-9CB1FA04688A}"/>
              </a:ext>
            </a:extLst>
          </p:cNvPr>
          <p:cNvSpPr>
            <a:spLocks noGrp="1"/>
          </p:cNvSpPr>
          <p:nvPr>
            <p:ph type="sldNum" sz="quarter" idx="12"/>
          </p:nvPr>
        </p:nvSpPr>
        <p:spPr/>
        <p:txBody>
          <a:bodyPr/>
          <a:lstStyle/>
          <a:p>
            <a:fld id="{B4D9215A-BBD7-4EA3-A180-3B547E3468E2}" type="slidenum">
              <a:rPr lang="en-IN" smtClean="0"/>
              <a:t>‹#›</a:t>
            </a:fld>
            <a:endParaRPr lang="en-IN"/>
          </a:p>
        </p:txBody>
      </p:sp>
    </p:spTree>
    <p:extLst>
      <p:ext uri="{BB962C8B-B14F-4D97-AF65-F5344CB8AC3E}">
        <p14:creationId xmlns:p14="http://schemas.microsoft.com/office/powerpoint/2010/main" val="1969753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41A071-B5B6-F47B-F694-239F9D9425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A0B761-B2CE-CF1E-37BE-3E5F37A5C5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A61BEA-20FD-5A98-180E-DA3F57680A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8357C7-580B-4A2A-BBB1-529821E2E3C7}" type="datetimeFigureOut">
              <a:rPr lang="en-IN" smtClean="0"/>
              <a:t>16-04-2025</a:t>
            </a:fld>
            <a:endParaRPr lang="en-IN"/>
          </a:p>
        </p:txBody>
      </p:sp>
      <p:sp>
        <p:nvSpPr>
          <p:cNvPr id="5" name="Footer Placeholder 4">
            <a:extLst>
              <a:ext uri="{FF2B5EF4-FFF2-40B4-BE49-F238E27FC236}">
                <a16:creationId xmlns:a16="http://schemas.microsoft.com/office/drawing/2014/main" id="{8AD0C93C-A681-FE86-9174-F3B1FA91CA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0A2AA5C-9136-B60B-2DC5-A9E948AE9E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D9215A-BBD7-4EA3-A180-3B547E3468E2}" type="slidenum">
              <a:rPr lang="en-IN" smtClean="0"/>
              <a:t>‹#›</a:t>
            </a:fld>
            <a:endParaRPr lang="en-IN"/>
          </a:p>
        </p:txBody>
      </p:sp>
    </p:spTree>
    <p:extLst>
      <p:ext uri="{BB962C8B-B14F-4D97-AF65-F5344CB8AC3E}">
        <p14:creationId xmlns:p14="http://schemas.microsoft.com/office/powerpoint/2010/main" val="128877674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18D6A-7D29-3A68-122F-1C2436E38E7F}"/>
              </a:ext>
            </a:extLst>
          </p:cNvPr>
          <p:cNvSpPr>
            <a:spLocks noGrp="1"/>
          </p:cNvSpPr>
          <p:nvPr>
            <p:ph type="ctrTitle" idx="4294967295"/>
          </p:nvPr>
        </p:nvSpPr>
        <p:spPr>
          <a:xfrm>
            <a:off x="2470483" y="2294021"/>
            <a:ext cx="7620001" cy="1134979"/>
          </a:xfrm>
        </p:spPr>
        <p:txBody>
          <a:bodyPr>
            <a:normAutofit fontScale="90000"/>
          </a:bodyPr>
          <a:lstStyle/>
          <a:p>
            <a:pPr algn="ctr"/>
            <a:r>
              <a:rPr lang="en-IN" sz="2700" b="1" dirty="0" err="1">
                <a:solidFill>
                  <a:schemeClr val="bg1"/>
                </a:solidFill>
                <a:latin typeface="Times New Roman" panose="02020603050405020304" pitchFamily="18" charset="0"/>
                <a:cs typeface="Times New Roman" panose="02020603050405020304" pitchFamily="18" charset="0"/>
              </a:rPr>
              <a:t>Dhanekula</a:t>
            </a:r>
            <a:r>
              <a:rPr lang="en-IN" sz="2700" b="1" dirty="0">
                <a:solidFill>
                  <a:schemeClr val="bg1"/>
                </a:solidFill>
                <a:latin typeface="Times New Roman" panose="02020603050405020304" pitchFamily="18" charset="0"/>
                <a:cs typeface="Times New Roman" panose="02020603050405020304" pitchFamily="18" charset="0"/>
              </a:rPr>
              <a:t> Institute of Engineering and Technology</a:t>
            </a:r>
            <a:br>
              <a:rPr lang="en-IN" sz="6000"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sz="6000"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sz="4400" b="1" dirty="0">
                <a:latin typeface="Times New Roman" panose="02020603050405020304" pitchFamily="18" charset="0"/>
                <a:cs typeface="Times New Roman" panose="02020603050405020304" pitchFamily="18" charset="0"/>
              </a:rPr>
            </a:br>
            <a:endParaRPr lang="en-IN" dirty="0">
              <a:solidFill>
                <a:schemeClr val="tx1">
                  <a:lumMod val="95000"/>
                  <a:lumOff val="5000"/>
                </a:schemeClr>
              </a:solidFill>
            </a:endParaRPr>
          </a:p>
        </p:txBody>
      </p:sp>
      <p:sp>
        <p:nvSpPr>
          <p:cNvPr id="5" name="TextBox 4">
            <a:extLst>
              <a:ext uri="{FF2B5EF4-FFF2-40B4-BE49-F238E27FC236}">
                <a16:creationId xmlns:a16="http://schemas.microsoft.com/office/drawing/2014/main" id="{0D55D182-B822-D925-6CF7-47322EBBB67E}"/>
              </a:ext>
            </a:extLst>
          </p:cNvPr>
          <p:cNvSpPr txBox="1"/>
          <p:nvPr/>
        </p:nvSpPr>
        <p:spPr>
          <a:xfrm>
            <a:off x="465221" y="112295"/>
            <a:ext cx="11229474" cy="1323439"/>
          </a:xfrm>
          <a:prstGeom prst="rect">
            <a:avLst/>
          </a:prstGeom>
          <a:noFill/>
          <a:ln>
            <a:noFill/>
          </a:ln>
          <a:effectLst/>
          <a:scene3d>
            <a:camera prst="orthographicFront">
              <a:rot lat="0" lon="0" rev="0"/>
            </a:camera>
            <a:lightRig rig="contrasting" dir="t">
              <a:rot lat="0" lon="0" rev="7800000"/>
            </a:lightRig>
          </a:scene3d>
          <a:sp3d>
            <a:bevelT w="139700" h="139700"/>
          </a:sp3d>
        </p:spPr>
        <p:style>
          <a:lnRef idx="2">
            <a:schemeClr val="dk1"/>
          </a:lnRef>
          <a:fillRef idx="1">
            <a:schemeClr val="lt1"/>
          </a:fillRef>
          <a:effectRef idx="0">
            <a:schemeClr val="dk1"/>
          </a:effectRef>
          <a:fontRef idx="minor">
            <a:schemeClr val="dk1"/>
          </a:fontRef>
        </p:style>
        <p:txBody>
          <a:bodyPr wrap="square">
            <a:spAutoFit/>
          </a:bodyPr>
          <a:lstStyle/>
          <a:p>
            <a:pPr algn="ctr"/>
            <a:r>
              <a:rPr lang="en-IN" sz="4000" b="1" u="sng" dirty="0">
                <a:solidFill>
                  <a:schemeClr val="bg1"/>
                </a:solidFill>
                <a:latin typeface="Times New Roman" panose="02020603050405020304" pitchFamily="18" charset="0"/>
                <a:cs typeface="Times New Roman" panose="02020603050405020304" pitchFamily="18" charset="0"/>
              </a:rPr>
              <a:t>FAKE SOCIAL MEDIA PROFILE DETECTION    USING ENSEMBLE LEARNING</a:t>
            </a:r>
          </a:p>
        </p:txBody>
      </p:sp>
      <p:sp>
        <p:nvSpPr>
          <p:cNvPr id="8" name="TextBox 7">
            <a:extLst>
              <a:ext uri="{FF2B5EF4-FFF2-40B4-BE49-F238E27FC236}">
                <a16:creationId xmlns:a16="http://schemas.microsoft.com/office/drawing/2014/main" id="{F8DE4642-46DB-7293-85CE-2064FD45094D}"/>
              </a:ext>
            </a:extLst>
          </p:cNvPr>
          <p:cNvSpPr txBox="1"/>
          <p:nvPr/>
        </p:nvSpPr>
        <p:spPr>
          <a:xfrm>
            <a:off x="3705726" y="2254313"/>
            <a:ext cx="3641557" cy="400110"/>
          </a:xfrm>
          <a:prstGeom prst="rect">
            <a:avLst/>
          </a:prstGeom>
          <a:noFill/>
        </p:spPr>
        <p:txBody>
          <a:bodyPr wrap="square" rtlCol="0">
            <a:spAutoFit/>
          </a:bodyPr>
          <a:lstStyle/>
          <a:p>
            <a:pPr algn="ctr"/>
            <a:r>
              <a:rPr lang="en-IN" sz="2000" b="1" dirty="0" err="1">
                <a:solidFill>
                  <a:schemeClr val="bg1"/>
                </a:solidFill>
                <a:latin typeface="Times New Roman" panose="02020603050405020304" pitchFamily="18" charset="0"/>
                <a:cs typeface="Times New Roman" panose="02020603050405020304" pitchFamily="18" charset="0"/>
              </a:rPr>
              <a:t>Ganguru</a:t>
            </a:r>
            <a:r>
              <a:rPr lang="en-IN" sz="2000" b="1" dirty="0">
                <a:solidFill>
                  <a:schemeClr val="bg1"/>
                </a:solidFill>
                <a:latin typeface="Times New Roman" panose="02020603050405020304" pitchFamily="18" charset="0"/>
                <a:cs typeface="Times New Roman" panose="02020603050405020304" pitchFamily="18" charset="0"/>
              </a:rPr>
              <a:t>, Vijayawada (520013)</a:t>
            </a:r>
          </a:p>
        </p:txBody>
      </p:sp>
      <p:sp>
        <p:nvSpPr>
          <p:cNvPr id="9" name="TextBox 8">
            <a:extLst>
              <a:ext uri="{FF2B5EF4-FFF2-40B4-BE49-F238E27FC236}">
                <a16:creationId xmlns:a16="http://schemas.microsoft.com/office/drawing/2014/main" id="{19488BC9-2EC0-4A9D-FB48-4B4FA019AF10}"/>
              </a:ext>
            </a:extLst>
          </p:cNvPr>
          <p:cNvSpPr txBox="1"/>
          <p:nvPr/>
        </p:nvSpPr>
        <p:spPr>
          <a:xfrm>
            <a:off x="4323669" y="2750123"/>
            <a:ext cx="3336757" cy="400110"/>
          </a:xfrm>
          <a:prstGeom prst="rect">
            <a:avLst/>
          </a:prstGeom>
          <a:noFill/>
        </p:spPr>
        <p:txBody>
          <a:bodyPr wrap="square" rtlCol="0">
            <a:spAutoFit/>
          </a:bodyPr>
          <a:lstStyle/>
          <a:p>
            <a:r>
              <a:rPr lang="en-IN" sz="2000" b="1" dirty="0">
                <a:solidFill>
                  <a:schemeClr val="bg1"/>
                </a:solidFill>
                <a:latin typeface="Times New Roman" panose="02020603050405020304" pitchFamily="18" charset="0"/>
                <a:cs typeface="Times New Roman" panose="02020603050405020304" pitchFamily="18" charset="0"/>
              </a:rPr>
              <a:t>Project Review</a:t>
            </a:r>
          </a:p>
        </p:txBody>
      </p:sp>
      <p:sp>
        <p:nvSpPr>
          <p:cNvPr id="10" name="TextBox 9">
            <a:extLst>
              <a:ext uri="{FF2B5EF4-FFF2-40B4-BE49-F238E27FC236}">
                <a16:creationId xmlns:a16="http://schemas.microsoft.com/office/drawing/2014/main" id="{A5CB87A0-67EE-3BF0-DE0E-545314729A88}"/>
              </a:ext>
            </a:extLst>
          </p:cNvPr>
          <p:cNvSpPr txBox="1"/>
          <p:nvPr/>
        </p:nvSpPr>
        <p:spPr>
          <a:xfrm>
            <a:off x="304799" y="4404835"/>
            <a:ext cx="4018870" cy="2000548"/>
          </a:xfrm>
          <a:prstGeom prst="rect">
            <a:avLst/>
          </a:prstGeom>
          <a:noFill/>
        </p:spPr>
        <p:txBody>
          <a:bodyPr wrap="square" rtlCol="0">
            <a:spAutoFit/>
          </a:bodyPr>
          <a:lstStyle/>
          <a:p>
            <a:r>
              <a:rPr lang="en-IN" sz="2000" b="1" dirty="0">
                <a:solidFill>
                  <a:schemeClr val="bg1"/>
                </a:solidFill>
                <a:latin typeface="Times New Roman" panose="02020603050405020304" pitchFamily="18" charset="0"/>
                <a:cs typeface="Times New Roman" panose="02020603050405020304" pitchFamily="18" charset="0"/>
              </a:rPr>
              <a:t> presented </a:t>
            </a:r>
            <a:r>
              <a:rPr lang="en-IN" sz="2400" b="1" dirty="0">
                <a:solidFill>
                  <a:schemeClr val="bg1"/>
                </a:solidFill>
                <a:latin typeface="Times New Roman" panose="02020603050405020304" pitchFamily="18" charset="0"/>
                <a:cs typeface="Times New Roman" panose="02020603050405020304" pitchFamily="18" charset="0"/>
              </a:rPr>
              <a:t>by  BATCH NO.13</a:t>
            </a:r>
          </a:p>
          <a:p>
            <a:r>
              <a:rPr lang="en-IN" sz="2000" b="1" dirty="0">
                <a:solidFill>
                  <a:schemeClr val="bg1"/>
                </a:solidFill>
                <a:latin typeface="Times New Roman" panose="02020603050405020304" pitchFamily="18" charset="0"/>
                <a:cs typeface="Times New Roman" panose="02020603050405020304" pitchFamily="18" charset="0"/>
              </a:rPr>
              <a:t>M. Sowmya Devi  (218T1A4228)</a:t>
            </a:r>
          </a:p>
          <a:p>
            <a:r>
              <a:rPr lang="en-IN" sz="2000" b="1" dirty="0">
                <a:solidFill>
                  <a:schemeClr val="bg1"/>
                </a:solidFill>
                <a:latin typeface="Times New Roman" panose="02020603050405020304" pitchFamily="18" charset="0"/>
                <a:cs typeface="Times New Roman" panose="02020603050405020304" pitchFamily="18" charset="0"/>
              </a:rPr>
              <a:t>B. Pranab Karthik  (228T5A4203)</a:t>
            </a:r>
          </a:p>
          <a:p>
            <a:r>
              <a:rPr lang="en-IN" sz="2000" b="1" dirty="0">
                <a:solidFill>
                  <a:schemeClr val="bg1"/>
                </a:solidFill>
                <a:latin typeface="Times New Roman" panose="02020603050405020304" pitchFamily="18" charset="0"/>
                <a:cs typeface="Times New Roman" panose="02020603050405020304" pitchFamily="18" charset="0"/>
              </a:rPr>
              <a:t>Y. Sandhya  (218T1A4253)</a:t>
            </a:r>
          </a:p>
          <a:p>
            <a:r>
              <a:rPr lang="en-IN" sz="2000" b="1" dirty="0">
                <a:solidFill>
                  <a:schemeClr val="bg1"/>
                </a:solidFill>
                <a:latin typeface="Times New Roman" panose="02020603050405020304" pitchFamily="18" charset="0"/>
                <a:cs typeface="Times New Roman" panose="02020603050405020304" pitchFamily="18" charset="0"/>
              </a:rPr>
              <a:t>R. Sai Vamsi Krishna  (218T1A4256)</a:t>
            </a:r>
            <a:endParaRPr lang="en-IN" sz="2000" b="1" dirty="0">
              <a:solidFill>
                <a:schemeClr val="bg1"/>
              </a:solidFill>
            </a:endParaRPr>
          </a:p>
        </p:txBody>
      </p:sp>
      <p:sp>
        <p:nvSpPr>
          <p:cNvPr id="11" name="TextBox 10">
            <a:extLst>
              <a:ext uri="{FF2B5EF4-FFF2-40B4-BE49-F238E27FC236}">
                <a16:creationId xmlns:a16="http://schemas.microsoft.com/office/drawing/2014/main" id="{1E48198B-CFA2-39E9-7670-2D07FE9BF6BB}"/>
              </a:ext>
            </a:extLst>
          </p:cNvPr>
          <p:cNvSpPr txBox="1"/>
          <p:nvPr/>
        </p:nvSpPr>
        <p:spPr>
          <a:xfrm>
            <a:off x="5021179" y="4716379"/>
            <a:ext cx="2951746" cy="1015663"/>
          </a:xfrm>
          <a:prstGeom prst="rect">
            <a:avLst/>
          </a:prstGeom>
          <a:noFill/>
        </p:spPr>
        <p:txBody>
          <a:bodyPr wrap="square" rtlCol="0">
            <a:spAutoFit/>
          </a:bodyPr>
          <a:lstStyle/>
          <a:p>
            <a:r>
              <a:rPr lang="en-IN" sz="2000" b="1" dirty="0">
                <a:solidFill>
                  <a:schemeClr val="bg1"/>
                </a:solidFill>
                <a:latin typeface="Times New Roman" panose="02020603050405020304" pitchFamily="18" charset="0"/>
                <a:cs typeface="Times New Roman" panose="02020603050405020304" pitchFamily="18" charset="0"/>
              </a:rPr>
              <a:t>Under the Guidance  of:</a:t>
            </a:r>
          </a:p>
          <a:p>
            <a:r>
              <a:rPr lang="en-IN" sz="2000" b="1" dirty="0">
                <a:solidFill>
                  <a:schemeClr val="bg1"/>
                </a:solidFill>
                <a:latin typeface="Times New Roman" panose="02020603050405020304" pitchFamily="18" charset="0"/>
                <a:cs typeface="Times New Roman" panose="02020603050405020304" pitchFamily="18" charset="0"/>
              </a:rPr>
              <a:t>Dr. M. Vinod Kumar </a:t>
            </a:r>
          </a:p>
          <a:p>
            <a:r>
              <a:rPr lang="en-IN" sz="2000" b="1" dirty="0">
                <a:solidFill>
                  <a:schemeClr val="bg1"/>
                </a:solidFill>
                <a:latin typeface="Times New Roman" panose="02020603050405020304" pitchFamily="18" charset="0"/>
                <a:cs typeface="Times New Roman" panose="02020603050405020304" pitchFamily="18" charset="0"/>
              </a:rPr>
              <a:t>(Associate  Professor)</a:t>
            </a:r>
          </a:p>
        </p:txBody>
      </p:sp>
      <p:pic>
        <p:nvPicPr>
          <p:cNvPr id="15" name="Picture 14">
            <a:extLst>
              <a:ext uri="{FF2B5EF4-FFF2-40B4-BE49-F238E27FC236}">
                <a16:creationId xmlns:a16="http://schemas.microsoft.com/office/drawing/2014/main" id="{F0F666D9-987F-3531-6E44-ACD32FC58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3130" y="2654423"/>
            <a:ext cx="4018870" cy="4203577"/>
          </a:xfrm>
          <a:prstGeom prst="rect">
            <a:avLst/>
          </a:prstGeom>
        </p:spPr>
      </p:pic>
    </p:spTree>
    <p:extLst>
      <p:ext uri="{BB962C8B-B14F-4D97-AF65-F5344CB8AC3E}">
        <p14:creationId xmlns:p14="http://schemas.microsoft.com/office/powerpoint/2010/main" val="953086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D46F0C-F087-0B98-0F00-F8E3089FF239}"/>
              </a:ext>
            </a:extLst>
          </p:cNvPr>
          <p:cNvSpPr txBox="1"/>
          <p:nvPr/>
        </p:nvSpPr>
        <p:spPr>
          <a:xfrm>
            <a:off x="352925" y="160421"/>
            <a:ext cx="7002626" cy="707886"/>
          </a:xfrm>
          <a:prstGeom prst="rect">
            <a:avLst/>
          </a:prstGeom>
          <a:noFill/>
        </p:spPr>
        <p:txBody>
          <a:bodyPr wrap="square" rtlCol="0">
            <a:spAutoFit/>
          </a:bodyPr>
          <a:lstStyle/>
          <a:p>
            <a:r>
              <a:rPr lang="en-IN" sz="4000" b="1" dirty="0">
                <a:solidFill>
                  <a:schemeClr val="accent1">
                    <a:lumMod val="50000"/>
                  </a:schemeClr>
                </a:solidFill>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8AF55099-FDF6-33EE-7253-72599C4DC400}"/>
              </a:ext>
            </a:extLst>
          </p:cNvPr>
          <p:cNvSpPr txBox="1"/>
          <p:nvPr/>
        </p:nvSpPr>
        <p:spPr>
          <a:xfrm>
            <a:off x="232364" y="272717"/>
            <a:ext cx="3617741"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ABSTRACT</a:t>
            </a:r>
          </a:p>
        </p:txBody>
      </p:sp>
      <p:sp>
        <p:nvSpPr>
          <p:cNvPr id="6" name="TextBox 5">
            <a:extLst>
              <a:ext uri="{FF2B5EF4-FFF2-40B4-BE49-F238E27FC236}">
                <a16:creationId xmlns:a16="http://schemas.microsoft.com/office/drawing/2014/main" id="{D0228609-943E-59C3-5AE9-C8A0B7CDE1ED}"/>
              </a:ext>
            </a:extLst>
          </p:cNvPr>
          <p:cNvSpPr txBox="1"/>
          <p:nvPr/>
        </p:nvSpPr>
        <p:spPr>
          <a:xfrm>
            <a:off x="753977" y="1189152"/>
            <a:ext cx="10331117" cy="4295791"/>
          </a:xfrm>
          <a:prstGeom prst="rect">
            <a:avLst/>
          </a:prstGeom>
          <a:noFill/>
        </p:spPr>
        <p:txBody>
          <a:bodyPr wrap="square" rtlCol="0">
            <a:spAutoFit/>
          </a:bodyPr>
          <a:lstStyle/>
          <a:p>
            <a:pPr algn="l">
              <a:lnSpc>
                <a:spcPts val="3000"/>
              </a:lnSpc>
            </a:pPr>
            <a:r>
              <a:rPr lang="en-US" sz="2000" dirty="0">
                <a:solidFill>
                  <a:srgbClr val="CAD6DE"/>
                </a:solidFill>
                <a:latin typeface="Times New Roman" panose="02020603050405020304" pitchFamily="18" charset="0"/>
                <a:ea typeface="Cabin"/>
                <a:cs typeface="Times New Roman" panose="02020603050405020304" pitchFamily="18" charset="0"/>
                <a:sym typeface="Cabin"/>
              </a:rPr>
              <a:t>Online Social Networking platforms have become an integral part of daily life, but they also attract malicious bots that mimic human behavior and pose significant cybersecurity threats. This literature review explores recent Machine Learning-based techniques for detecting and classifying bots on major social media platforms, covering supervised, semi-supervised, and unsupervised approaches. It examines dataset details, feature categories, and the evolving challenges posed by increasingly sophisticated bots designed to evade detection. Additionally, the study highlights concerns regarding data privacy and the influence of unverified and malicious content on user perceptions. A taxonomy for classifying malicious information at various stages is presented, along with technologies to combat misinformation from content generation to containment. The findings demonstrate the effectiveness of Machine Learning in enhancing the security and reliability of social media platforms, providing a scalable solution to mitigate online deception</a:t>
            </a:r>
          </a:p>
        </p:txBody>
      </p:sp>
    </p:spTree>
    <p:extLst>
      <p:ext uri="{BB962C8B-B14F-4D97-AF65-F5344CB8AC3E}">
        <p14:creationId xmlns:p14="http://schemas.microsoft.com/office/powerpoint/2010/main" val="959530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F63E07-073B-BE63-ECEA-BAF8639B3BC7}"/>
              </a:ext>
            </a:extLst>
          </p:cNvPr>
          <p:cNvSpPr txBox="1"/>
          <p:nvPr/>
        </p:nvSpPr>
        <p:spPr>
          <a:xfrm>
            <a:off x="208547" y="288758"/>
            <a:ext cx="4620127"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INTRODUCTION</a:t>
            </a:r>
          </a:p>
        </p:txBody>
      </p:sp>
      <p:sp>
        <p:nvSpPr>
          <p:cNvPr id="6" name="TextBox 5">
            <a:extLst>
              <a:ext uri="{FF2B5EF4-FFF2-40B4-BE49-F238E27FC236}">
                <a16:creationId xmlns:a16="http://schemas.microsoft.com/office/drawing/2014/main" id="{BDAFB843-D7E5-01D0-D27A-972332ED4D63}"/>
              </a:ext>
            </a:extLst>
          </p:cNvPr>
          <p:cNvSpPr txBox="1"/>
          <p:nvPr/>
        </p:nvSpPr>
        <p:spPr>
          <a:xfrm>
            <a:off x="625642" y="1122948"/>
            <a:ext cx="8261684" cy="400110"/>
          </a:xfrm>
          <a:prstGeom prst="rect">
            <a:avLst/>
          </a:prstGeom>
          <a:noFill/>
        </p:spPr>
        <p:txBody>
          <a:bodyPr wrap="square" rtlCol="0">
            <a:spAutoFit/>
          </a:bodyPr>
          <a:lstStyle/>
          <a:p>
            <a:endParaRPr lang="en-US" sz="2000" dirty="0"/>
          </a:p>
        </p:txBody>
      </p:sp>
      <p:sp>
        <p:nvSpPr>
          <p:cNvPr id="9" name="TextBox 8">
            <a:extLst>
              <a:ext uri="{FF2B5EF4-FFF2-40B4-BE49-F238E27FC236}">
                <a16:creationId xmlns:a16="http://schemas.microsoft.com/office/drawing/2014/main" id="{AECFC170-0152-81FE-76EA-43B74DA07C83}"/>
              </a:ext>
            </a:extLst>
          </p:cNvPr>
          <p:cNvSpPr txBox="1"/>
          <p:nvPr/>
        </p:nvSpPr>
        <p:spPr>
          <a:xfrm>
            <a:off x="208547" y="1122948"/>
            <a:ext cx="11742821" cy="2246769"/>
          </a:xfrm>
          <a:prstGeom prst="rect">
            <a:avLst/>
          </a:prstGeom>
          <a:noFill/>
        </p:spPr>
        <p:txBody>
          <a:bodyPr wrap="square">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Fake social media profiles have become a serious concern in today’s digital world, often used for spreading misinformation, committing fraud, and stealing identities. Traditional detection methods like manual reviews and rule-based filters are slow and ineffective against the increasing sophistication of fake accounts. This project introduces a machine learning-based solution using ensemble models such as Random Forest, </a:t>
            </a:r>
            <a:r>
              <a:rPr lang="en-US" sz="2000" dirty="0" err="1">
                <a:solidFill>
                  <a:schemeClr val="bg1"/>
                </a:solidFill>
                <a:latin typeface="Times New Roman" panose="02020603050405020304" pitchFamily="18" charset="0"/>
                <a:cs typeface="Times New Roman" panose="02020603050405020304" pitchFamily="18" charset="0"/>
              </a:rPr>
              <a:t>XGBoost</a:t>
            </a:r>
            <a:r>
              <a:rPr lang="en-US" sz="2000" dirty="0">
                <a:solidFill>
                  <a:schemeClr val="bg1"/>
                </a:solidFill>
                <a:latin typeface="Times New Roman" panose="02020603050405020304" pitchFamily="18" charset="0"/>
                <a:cs typeface="Times New Roman" panose="02020603050405020304" pitchFamily="18" charset="0"/>
              </a:rPr>
              <a:t>, and SVM to automatically detect and classify fake profiles with high accuracy. By analyzing user behavior, profile details, and engagement patterns, the system ensures real-time detection and helps enhance the safety and reliability of social media platforms.</a:t>
            </a:r>
            <a:endParaRPr lang="en-IN" sz="2000"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DA66356C-C629-61DF-AFC8-9981F26EA6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69894"/>
            <a:ext cx="12191999" cy="3088105"/>
          </a:xfrm>
          <a:prstGeom prst="rect">
            <a:avLst/>
          </a:prstGeom>
        </p:spPr>
      </p:pic>
    </p:spTree>
    <p:extLst>
      <p:ext uri="{BB962C8B-B14F-4D97-AF65-F5344CB8AC3E}">
        <p14:creationId xmlns:p14="http://schemas.microsoft.com/office/powerpoint/2010/main" val="658990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AA8FA9-8FD7-C15B-E5CF-E5E20F78B193}"/>
              </a:ext>
            </a:extLst>
          </p:cNvPr>
          <p:cNvSpPr txBox="1"/>
          <p:nvPr/>
        </p:nvSpPr>
        <p:spPr>
          <a:xfrm>
            <a:off x="192505" y="224589"/>
            <a:ext cx="4034838"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MOTIVATION</a:t>
            </a:r>
          </a:p>
        </p:txBody>
      </p:sp>
      <p:sp>
        <p:nvSpPr>
          <p:cNvPr id="3" name="Rectangle 1">
            <a:extLst>
              <a:ext uri="{FF2B5EF4-FFF2-40B4-BE49-F238E27FC236}">
                <a16:creationId xmlns:a16="http://schemas.microsoft.com/office/drawing/2014/main" id="{45F3A20B-CB27-1DD7-FADC-5683750643B1}"/>
              </a:ext>
            </a:extLst>
          </p:cNvPr>
          <p:cNvSpPr>
            <a:spLocks noChangeArrowheads="1"/>
          </p:cNvSpPr>
          <p:nvPr/>
        </p:nvSpPr>
        <p:spPr bwMode="auto">
          <a:xfrm>
            <a:off x="561474" y="1296567"/>
            <a:ext cx="1012256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Cyber threats</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and fake accounts ae growing rapidly on social media.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Fake profiles are used in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financial scams</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identity theft</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misinformation</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There’s a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need for automated solutions</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due to the scale of the problem.</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ML can analyze complex data patterns and identify suspicious behavior.</a:t>
            </a:r>
          </a:p>
        </p:txBody>
      </p:sp>
    </p:spTree>
    <p:extLst>
      <p:ext uri="{BB962C8B-B14F-4D97-AF65-F5344CB8AC3E}">
        <p14:creationId xmlns:p14="http://schemas.microsoft.com/office/powerpoint/2010/main" val="349416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E70C13-CD6B-3165-5123-C11A38611052}"/>
              </a:ext>
            </a:extLst>
          </p:cNvPr>
          <p:cNvSpPr txBox="1"/>
          <p:nvPr/>
        </p:nvSpPr>
        <p:spPr>
          <a:xfrm>
            <a:off x="304800" y="224589"/>
            <a:ext cx="6063915"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A9722323-E4CE-5634-B1A0-DF1637DB98BF}"/>
              </a:ext>
            </a:extLst>
          </p:cNvPr>
          <p:cNvSpPr txBox="1"/>
          <p:nvPr/>
        </p:nvSpPr>
        <p:spPr>
          <a:xfrm>
            <a:off x="417095" y="1138988"/>
            <a:ext cx="11325727" cy="5839099"/>
          </a:xfrm>
          <a:prstGeom prst="rect">
            <a:avLst/>
          </a:prstGeom>
          <a:noFill/>
        </p:spPr>
        <p:txBody>
          <a:bodyPr wrap="square">
            <a:spAutoFit/>
          </a:bodyPr>
          <a:lstStyle/>
          <a:p>
            <a:pPr algn="just">
              <a:lnSpc>
                <a:spcPts val="3000"/>
              </a:lnSpc>
            </a:pPr>
            <a:r>
              <a:rPr lang="en-US" sz="2400" dirty="0">
                <a:solidFill>
                  <a:srgbClr val="CAD6DE"/>
                </a:solidFill>
                <a:latin typeface="Times New Roman" panose="02020603050405020304" pitchFamily="18" charset="0"/>
                <a:ea typeface="Cabin"/>
                <a:cs typeface="Times New Roman" panose="02020603050405020304" pitchFamily="18" charset="0"/>
                <a:sym typeface="Cabin"/>
              </a:rPr>
              <a:t>The rapid growth of social media platforms has led to an increase in </a:t>
            </a:r>
            <a:r>
              <a:rPr lang="en-US" sz="2400" b="1" dirty="0">
                <a:solidFill>
                  <a:srgbClr val="CAD6DE"/>
                </a:solidFill>
                <a:latin typeface="Times New Roman" panose="02020603050405020304" pitchFamily="18" charset="0"/>
                <a:ea typeface="Cabin Bold"/>
                <a:cs typeface="Times New Roman" panose="02020603050405020304" pitchFamily="18" charset="0"/>
                <a:sym typeface="Cabin Bold"/>
              </a:rPr>
              <a:t>fake profiles</a:t>
            </a:r>
            <a:r>
              <a:rPr lang="en-US" sz="2400" dirty="0">
                <a:solidFill>
                  <a:srgbClr val="CAD6DE"/>
                </a:solidFill>
                <a:latin typeface="Times New Roman" panose="02020603050405020304" pitchFamily="18" charset="0"/>
                <a:ea typeface="Cabin"/>
                <a:cs typeface="Times New Roman" panose="02020603050405020304" pitchFamily="18" charset="0"/>
                <a:sym typeface="Cabin"/>
              </a:rPr>
              <a:t> that impersonate real users, spread misinformation, and engage in fraudulent activities. These fake accounts pose significant threats to </a:t>
            </a:r>
            <a:r>
              <a:rPr lang="en-US" sz="2400" b="1" dirty="0">
                <a:solidFill>
                  <a:srgbClr val="CAD6DE"/>
                </a:solidFill>
                <a:latin typeface="Times New Roman" panose="02020603050405020304" pitchFamily="18" charset="0"/>
                <a:ea typeface="Cabin Bold"/>
                <a:cs typeface="Times New Roman" panose="02020603050405020304" pitchFamily="18" charset="0"/>
                <a:sym typeface="Cabin Bold"/>
              </a:rPr>
              <a:t>cybersecurity, privacy, and online trust</a:t>
            </a:r>
            <a:r>
              <a:rPr lang="en-US" sz="2400" dirty="0">
                <a:solidFill>
                  <a:srgbClr val="CAD6DE"/>
                </a:solidFill>
                <a:latin typeface="Times New Roman" panose="02020603050405020304" pitchFamily="18" charset="0"/>
                <a:ea typeface="Cabin"/>
                <a:cs typeface="Times New Roman" panose="02020603050405020304" pitchFamily="18" charset="0"/>
                <a:sym typeface="Cabin"/>
              </a:rPr>
              <a:t>, making their detection and mitigation a crucial challenge. Traditional rule-based detection methods struggle to keep up with the evolving tactics used by malicious actors to </a:t>
            </a:r>
            <a:r>
              <a:rPr lang="en-US" sz="2400" b="1" dirty="0">
                <a:solidFill>
                  <a:srgbClr val="CAD6DE"/>
                </a:solidFill>
                <a:latin typeface="Times New Roman" panose="02020603050405020304" pitchFamily="18" charset="0"/>
                <a:ea typeface="Cabin Bold"/>
                <a:cs typeface="Times New Roman" panose="02020603050405020304" pitchFamily="18" charset="0"/>
                <a:sym typeface="Cabin Bold"/>
              </a:rPr>
              <a:t>evade identification</a:t>
            </a:r>
            <a:r>
              <a:rPr lang="en-US" sz="2400" dirty="0">
                <a:solidFill>
                  <a:srgbClr val="CAD6DE"/>
                </a:solidFill>
                <a:latin typeface="Times New Roman" panose="02020603050405020304" pitchFamily="18" charset="0"/>
                <a:ea typeface="Cabin"/>
                <a:cs typeface="Times New Roman" panose="02020603050405020304" pitchFamily="18" charset="0"/>
                <a:sym typeface="Cabin"/>
              </a:rPr>
              <a:t>.</a:t>
            </a:r>
          </a:p>
          <a:p>
            <a:pPr algn="just">
              <a:lnSpc>
                <a:spcPts val="3000"/>
              </a:lnSpc>
            </a:pPr>
            <a:r>
              <a:rPr lang="en-US" sz="2400" dirty="0">
                <a:solidFill>
                  <a:srgbClr val="CAD6DE"/>
                </a:solidFill>
                <a:latin typeface="Times New Roman" panose="02020603050405020304" pitchFamily="18" charset="0"/>
                <a:ea typeface="Cabin"/>
                <a:cs typeface="Times New Roman" panose="02020603050405020304" pitchFamily="18" charset="0"/>
                <a:sym typeface="Cabin"/>
              </a:rPr>
              <a:t>This project aims to develop a </a:t>
            </a:r>
            <a:r>
              <a:rPr lang="en-US" sz="2400" b="1" dirty="0">
                <a:solidFill>
                  <a:srgbClr val="CAD6DE"/>
                </a:solidFill>
                <a:latin typeface="Times New Roman" panose="02020603050405020304" pitchFamily="18" charset="0"/>
                <a:ea typeface="Cabin Bold"/>
                <a:cs typeface="Times New Roman" panose="02020603050405020304" pitchFamily="18" charset="0"/>
                <a:sym typeface="Cabin Bold"/>
              </a:rPr>
              <a:t>Machine Learning-based approach</a:t>
            </a:r>
            <a:r>
              <a:rPr lang="en-US" sz="2400" dirty="0">
                <a:solidFill>
                  <a:srgbClr val="CAD6DE"/>
                </a:solidFill>
                <a:latin typeface="Times New Roman" panose="02020603050405020304" pitchFamily="18" charset="0"/>
                <a:ea typeface="Cabin"/>
                <a:cs typeface="Times New Roman" panose="02020603050405020304" pitchFamily="18" charset="0"/>
                <a:sym typeface="Cabin"/>
              </a:rPr>
              <a:t> for identifying and reporting </a:t>
            </a:r>
            <a:r>
              <a:rPr lang="en-US" sz="2400" b="1" dirty="0">
                <a:solidFill>
                  <a:srgbClr val="CAD6DE"/>
                </a:solidFill>
                <a:latin typeface="Times New Roman" panose="02020603050405020304" pitchFamily="18" charset="0"/>
                <a:ea typeface="Cabin Bold"/>
                <a:cs typeface="Times New Roman" panose="02020603050405020304" pitchFamily="18" charset="0"/>
                <a:sym typeface="Cabin Bold"/>
              </a:rPr>
              <a:t>fake social media profiles</a:t>
            </a:r>
            <a:r>
              <a:rPr lang="en-US" sz="2400" dirty="0">
                <a:solidFill>
                  <a:srgbClr val="CAD6DE"/>
                </a:solidFill>
                <a:latin typeface="Times New Roman" panose="02020603050405020304" pitchFamily="18" charset="0"/>
                <a:ea typeface="Cabin"/>
                <a:cs typeface="Times New Roman" panose="02020603050405020304" pitchFamily="18" charset="0"/>
                <a:sym typeface="Cabin"/>
              </a:rPr>
              <a:t> by analyzing various features such as user activity, content patterns, network behavior, and metadata. By leveraging </a:t>
            </a:r>
            <a:r>
              <a:rPr lang="en-US" sz="2400" b="1" dirty="0">
                <a:solidFill>
                  <a:srgbClr val="CAD6DE"/>
                </a:solidFill>
                <a:latin typeface="Times New Roman" panose="02020603050405020304" pitchFamily="18" charset="0"/>
                <a:ea typeface="Cabin Bold"/>
                <a:cs typeface="Times New Roman" panose="02020603050405020304" pitchFamily="18" charset="0"/>
                <a:sym typeface="Cabin Bold"/>
              </a:rPr>
              <a:t>supervised, semi-supervised, and unsupervised learning techniques</a:t>
            </a:r>
            <a:r>
              <a:rPr lang="en-US" sz="2400" dirty="0">
                <a:solidFill>
                  <a:srgbClr val="CAD6DE"/>
                </a:solidFill>
                <a:latin typeface="Times New Roman" panose="02020603050405020304" pitchFamily="18" charset="0"/>
                <a:ea typeface="Cabin"/>
                <a:cs typeface="Times New Roman" panose="02020603050405020304" pitchFamily="18" charset="0"/>
                <a:sym typeface="Cabin"/>
              </a:rPr>
              <a:t>, the system will enhance </a:t>
            </a:r>
            <a:r>
              <a:rPr lang="en-US" sz="2400" b="1" dirty="0">
                <a:solidFill>
                  <a:srgbClr val="CAD6DE"/>
                </a:solidFill>
                <a:latin typeface="Times New Roman" panose="02020603050405020304" pitchFamily="18" charset="0"/>
                <a:ea typeface="Cabin Bold"/>
                <a:cs typeface="Times New Roman" panose="02020603050405020304" pitchFamily="18" charset="0"/>
                <a:sym typeface="Cabin Bold"/>
              </a:rPr>
              <a:t>accuracy, efficiency, and scalability</a:t>
            </a:r>
            <a:r>
              <a:rPr lang="en-US" sz="2400" dirty="0">
                <a:solidFill>
                  <a:srgbClr val="CAD6DE"/>
                </a:solidFill>
                <a:latin typeface="Times New Roman" panose="02020603050405020304" pitchFamily="18" charset="0"/>
                <a:ea typeface="Cabin"/>
                <a:cs typeface="Times New Roman" panose="02020603050405020304" pitchFamily="18" charset="0"/>
                <a:sym typeface="Cabin"/>
              </a:rPr>
              <a:t> in detecting fake accounts. The study also addresses challenges related to </a:t>
            </a:r>
            <a:r>
              <a:rPr lang="en-US" sz="2400" b="1" dirty="0">
                <a:solidFill>
                  <a:srgbClr val="CAD6DE"/>
                </a:solidFill>
                <a:latin typeface="Times New Roman" panose="02020603050405020304" pitchFamily="18" charset="0"/>
                <a:ea typeface="Cabin Bold"/>
                <a:cs typeface="Times New Roman" panose="02020603050405020304" pitchFamily="18" charset="0"/>
                <a:sym typeface="Cabin Bold"/>
              </a:rPr>
              <a:t>data privacy, adversarial evasion techniques, and real-time detection</a:t>
            </a:r>
            <a:r>
              <a:rPr lang="en-US" sz="2400" dirty="0">
                <a:solidFill>
                  <a:srgbClr val="CAD6DE"/>
                </a:solidFill>
                <a:latin typeface="Times New Roman" panose="02020603050405020304" pitchFamily="18" charset="0"/>
                <a:ea typeface="Cabin"/>
                <a:cs typeface="Times New Roman" panose="02020603050405020304" pitchFamily="18" charset="0"/>
                <a:sym typeface="Cabin"/>
              </a:rPr>
              <a:t>, ensuring a robust and adaptable solution to improve </a:t>
            </a:r>
            <a:r>
              <a:rPr lang="en-US" sz="2400" b="1" dirty="0">
                <a:solidFill>
                  <a:srgbClr val="CAD6DE"/>
                </a:solidFill>
                <a:latin typeface="Times New Roman" panose="02020603050405020304" pitchFamily="18" charset="0"/>
                <a:ea typeface="Cabin Bold"/>
                <a:cs typeface="Times New Roman" panose="02020603050405020304" pitchFamily="18" charset="0"/>
                <a:sym typeface="Cabin Bold"/>
              </a:rPr>
              <a:t>social media security</a:t>
            </a:r>
            <a:endParaRPr lang="en-US" sz="2400" dirty="0">
              <a:solidFill>
                <a:srgbClr val="CAD6DE"/>
              </a:solidFill>
              <a:latin typeface="Times New Roman" panose="02020603050405020304" pitchFamily="18" charset="0"/>
              <a:ea typeface="Cabin"/>
              <a:cs typeface="Times New Roman" panose="02020603050405020304" pitchFamily="18" charset="0"/>
              <a:sym typeface="Cabin"/>
            </a:endParaRPr>
          </a:p>
          <a:p>
            <a:pPr algn="just">
              <a:lnSpc>
                <a:spcPts val="3000"/>
              </a:lnSpc>
            </a:pPr>
            <a:endParaRPr lang="en-US" sz="2400" dirty="0">
              <a:solidFill>
                <a:srgbClr val="CAD6DE"/>
              </a:solidFill>
              <a:latin typeface="Times New Roman" panose="02020603050405020304" pitchFamily="18" charset="0"/>
              <a:ea typeface="Cabin"/>
              <a:cs typeface="Times New Roman" panose="02020603050405020304" pitchFamily="18" charset="0"/>
              <a:sym typeface="Cabin"/>
            </a:endParaRPr>
          </a:p>
          <a:p>
            <a:pPr algn="just">
              <a:lnSpc>
                <a:spcPts val="3000"/>
              </a:lnSpc>
            </a:pPr>
            <a:endParaRPr lang="en-US" sz="2400" dirty="0">
              <a:solidFill>
                <a:srgbClr val="CAD6DE"/>
              </a:solidFill>
              <a:latin typeface="Times New Roman" panose="02020603050405020304" pitchFamily="18" charset="0"/>
              <a:ea typeface="Cabin"/>
              <a:cs typeface="Times New Roman" panose="02020603050405020304" pitchFamily="18" charset="0"/>
              <a:sym typeface="Cabin"/>
            </a:endParaRPr>
          </a:p>
        </p:txBody>
      </p:sp>
      <p:sp>
        <p:nvSpPr>
          <p:cNvPr id="6" name="TextBox 5">
            <a:extLst>
              <a:ext uri="{FF2B5EF4-FFF2-40B4-BE49-F238E27FC236}">
                <a16:creationId xmlns:a16="http://schemas.microsoft.com/office/drawing/2014/main" id="{D7A21443-7E54-CBEB-0ACF-0025ABCEE15C}"/>
              </a:ext>
            </a:extLst>
          </p:cNvPr>
          <p:cNvSpPr txBox="1"/>
          <p:nvPr/>
        </p:nvSpPr>
        <p:spPr>
          <a:xfrm>
            <a:off x="417095" y="2614863"/>
            <a:ext cx="11582400" cy="448584"/>
          </a:xfrm>
          <a:prstGeom prst="rect">
            <a:avLst/>
          </a:prstGeom>
          <a:noFill/>
        </p:spPr>
        <p:txBody>
          <a:bodyPr wrap="square">
            <a:spAutoFit/>
          </a:bodyPr>
          <a:lstStyle/>
          <a:p>
            <a:pPr algn="l">
              <a:lnSpc>
                <a:spcPts val="3000"/>
              </a:lnSpc>
            </a:pPr>
            <a:r>
              <a:rPr lang="en-US" sz="2000" dirty="0">
                <a:solidFill>
                  <a:srgbClr val="CAD6DE"/>
                </a:solidFill>
                <a:latin typeface="Cabin"/>
                <a:ea typeface="Cabin"/>
                <a:cs typeface="Cabin"/>
                <a:sym typeface="Cabin"/>
              </a:rPr>
              <a:t>.</a:t>
            </a:r>
          </a:p>
        </p:txBody>
      </p:sp>
    </p:spTree>
    <p:extLst>
      <p:ext uri="{BB962C8B-B14F-4D97-AF65-F5344CB8AC3E}">
        <p14:creationId xmlns:p14="http://schemas.microsoft.com/office/powerpoint/2010/main" val="1950464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74CA36-8F71-E08F-776E-C0002CC42ED3}"/>
              </a:ext>
            </a:extLst>
          </p:cNvPr>
          <p:cNvSpPr txBox="1"/>
          <p:nvPr/>
        </p:nvSpPr>
        <p:spPr>
          <a:xfrm>
            <a:off x="160421" y="288758"/>
            <a:ext cx="8983579" cy="584775"/>
          </a:xfrm>
          <a:prstGeom prst="rect">
            <a:avLst/>
          </a:prstGeom>
          <a:noFill/>
        </p:spPr>
        <p:txBody>
          <a:bodyPr wrap="square">
            <a:spAutoFit/>
          </a:bodyPr>
          <a:lstStyle/>
          <a:p>
            <a:r>
              <a:rPr lang="en-US" sz="3200" b="1" dirty="0">
                <a:solidFill>
                  <a:schemeClr val="bg1"/>
                </a:solidFill>
                <a:latin typeface="Times New Roman" panose="02020603050405020304" pitchFamily="18" charset="0"/>
                <a:cs typeface="Times New Roman" panose="02020603050405020304" pitchFamily="18" charset="0"/>
              </a:rPr>
              <a:t>CHALLENGES </a:t>
            </a:r>
            <a:endParaRPr lang="en-IN" sz="32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468A9A4-4564-E588-4DC9-782199EAFB44}"/>
              </a:ext>
            </a:extLst>
          </p:cNvPr>
          <p:cNvSpPr txBox="1"/>
          <p:nvPr/>
        </p:nvSpPr>
        <p:spPr>
          <a:xfrm>
            <a:off x="352926" y="873534"/>
            <a:ext cx="7395411" cy="535531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High Volume of Fake Profiles</a:t>
            </a:r>
            <a:endPar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Thousands of fake accounts are created daily, making manual detection impractical.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Evolving Fraud Techniques</a:t>
            </a:r>
            <a:endPar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Fraudsters use advanced methods like AI-generated images, deepfakes, and bots to mimic real profiles.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Data Privacy and Security</a:t>
            </a:r>
            <a:endPar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Ensuring user data is analyzed without violating privacy laws (e.g., GDPR) is a major concern.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False Positives and False Negatives</a:t>
            </a:r>
            <a:endPar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Real accounts may be wrongly flagged as fake, and some fake profiles might go undetected.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Scalability of the System</a:t>
            </a:r>
            <a:endPar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model must be capable of processing large amounts of data in real time without performance issues.</a:t>
            </a:r>
          </a:p>
        </p:txBody>
      </p:sp>
      <p:pic>
        <p:nvPicPr>
          <p:cNvPr id="8" name="Picture 7">
            <a:extLst>
              <a:ext uri="{FF2B5EF4-FFF2-40B4-BE49-F238E27FC236}">
                <a16:creationId xmlns:a16="http://schemas.microsoft.com/office/drawing/2014/main" id="{28B36C38-0597-A7F7-B66F-8F8FC32CBC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3979" y="0"/>
            <a:ext cx="3818021" cy="6858000"/>
          </a:xfrm>
          <a:prstGeom prst="rect">
            <a:avLst/>
          </a:prstGeom>
        </p:spPr>
      </p:pic>
    </p:spTree>
    <p:extLst>
      <p:ext uri="{BB962C8B-B14F-4D97-AF65-F5344CB8AC3E}">
        <p14:creationId xmlns:p14="http://schemas.microsoft.com/office/powerpoint/2010/main" val="3191640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673AF4-2F48-032E-AAEC-9F17E36955BB}"/>
              </a:ext>
            </a:extLst>
          </p:cNvPr>
          <p:cNvSpPr txBox="1"/>
          <p:nvPr/>
        </p:nvSpPr>
        <p:spPr>
          <a:xfrm>
            <a:off x="208547" y="320842"/>
            <a:ext cx="8935453"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598EFBBD-FFDD-1492-5D67-9E80AAB125BA}"/>
              </a:ext>
            </a:extLst>
          </p:cNvPr>
          <p:cNvSpPr txBox="1"/>
          <p:nvPr/>
        </p:nvSpPr>
        <p:spPr>
          <a:xfrm>
            <a:off x="208547" y="1138990"/>
            <a:ext cx="11662611" cy="4401205"/>
          </a:xfrm>
          <a:prstGeom prst="rect">
            <a:avLst/>
          </a:prstGeom>
          <a:noFill/>
        </p:spPr>
        <p:txBody>
          <a:bodyPr wrap="square">
            <a:spAutoFit/>
          </a:bodyPr>
          <a:lstStyle/>
          <a:p>
            <a:r>
              <a:rPr lang="en-US" sz="2000" dirty="0">
                <a:solidFill>
                  <a:schemeClr val="bg1"/>
                </a:solidFill>
                <a:latin typeface="Times New Roman" panose="02020603050405020304" pitchFamily="18" charset="0"/>
                <a:cs typeface="Times New Roman" panose="02020603050405020304" pitchFamily="18" charset="0"/>
              </a:rPr>
              <a:t>Several researchers have explored fake profile detection using machine learning techniques. </a:t>
            </a:r>
            <a:r>
              <a:rPr lang="en-US" sz="2000" b="1" dirty="0">
                <a:solidFill>
                  <a:schemeClr val="bg1"/>
                </a:solidFill>
                <a:latin typeface="Times New Roman" panose="02020603050405020304" pitchFamily="18" charset="0"/>
                <a:cs typeface="Times New Roman" panose="02020603050405020304" pitchFamily="18" charset="0"/>
              </a:rPr>
              <a:t>Joshi et al. (2021)</a:t>
            </a:r>
            <a:r>
              <a:rPr lang="en-US" sz="2000" dirty="0">
                <a:solidFill>
                  <a:schemeClr val="bg1"/>
                </a:solidFill>
                <a:latin typeface="Times New Roman" panose="02020603050405020304" pitchFamily="18" charset="0"/>
                <a:cs typeface="Times New Roman" panose="02020603050405020304" pitchFamily="18" charset="0"/>
              </a:rPr>
              <a:t> proposed a hybrid model combining Decision Trees and Support Vector Machines (SVM), leveraging both interpretability and classification strength. Their study emphasized profile attributes and behavioral features for detection. </a:t>
            </a:r>
            <a:r>
              <a:rPr lang="en-US" sz="2000" b="1" dirty="0">
                <a:solidFill>
                  <a:schemeClr val="bg1"/>
                </a:solidFill>
                <a:latin typeface="Times New Roman" panose="02020603050405020304" pitchFamily="18" charset="0"/>
                <a:cs typeface="Times New Roman" panose="02020603050405020304" pitchFamily="18" charset="0"/>
              </a:rPr>
              <a:t>Shehzad et al. (2022)</a:t>
            </a:r>
            <a:r>
              <a:rPr lang="en-US" sz="2000" dirty="0">
                <a:solidFill>
                  <a:schemeClr val="bg1"/>
                </a:solidFill>
                <a:latin typeface="Times New Roman" panose="02020603050405020304" pitchFamily="18" charset="0"/>
                <a:cs typeface="Times New Roman" panose="02020603050405020304" pitchFamily="18" charset="0"/>
              </a:rPr>
              <a:t> focused on ensemble techniques like Random Forest, Gradient Boosting, and Voting Classifiers to enhance detection on large-scale social media datasets. They highlighted the need to analyze interaction diversity, post frequency, and sentiment. </a:t>
            </a:r>
            <a:r>
              <a:rPr lang="en-US" sz="2000" b="1" dirty="0">
                <a:solidFill>
                  <a:schemeClr val="bg1"/>
                </a:solidFill>
                <a:latin typeface="Times New Roman" panose="02020603050405020304" pitchFamily="18" charset="0"/>
                <a:cs typeface="Times New Roman" panose="02020603050405020304" pitchFamily="18" charset="0"/>
              </a:rPr>
              <a:t>Bhattacharya et al. (2021)</a:t>
            </a:r>
            <a:r>
              <a:rPr lang="en-US" sz="2000" dirty="0">
                <a:solidFill>
                  <a:schemeClr val="bg1"/>
                </a:solidFill>
                <a:latin typeface="Times New Roman" panose="02020603050405020304" pitchFamily="18" charset="0"/>
                <a:cs typeface="Times New Roman" panose="02020603050405020304" pitchFamily="18" charset="0"/>
              </a:rPr>
              <a:t> extracted features such as friend count, language patterns, and profile activity, using Random Forest, AdaBoost, and </a:t>
            </a:r>
            <a:r>
              <a:rPr lang="en-US" sz="2000" dirty="0" err="1">
                <a:solidFill>
                  <a:schemeClr val="bg1"/>
                </a:solidFill>
                <a:latin typeface="Times New Roman" panose="02020603050405020304" pitchFamily="18" charset="0"/>
                <a:cs typeface="Times New Roman" panose="02020603050405020304" pitchFamily="18" charset="0"/>
              </a:rPr>
              <a:t>XGBoost</a:t>
            </a:r>
            <a:r>
              <a:rPr lang="en-US" sz="2000" dirty="0">
                <a:solidFill>
                  <a:schemeClr val="bg1"/>
                </a:solidFill>
                <a:latin typeface="Times New Roman" panose="02020603050405020304" pitchFamily="18" charset="0"/>
                <a:cs typeface="Times New Roman" panose="02020603050405020304" pitchFamily="18" charset="0"/>
              </a:rPr>
              <a:t> to increase reliability. </a:t>
            </a:r>
            <a:r>
              <a:rPr lang="en-US" sz="2000" b="1" dirty="0">
                <a:solidFill>
                  <a:schemeClr val="bg1"/>
                </a:solidFill>
                <a:latin typeface="Times New Roman" panose="02020603050405020304" pitchFamily="18" charset="0"/>
                <a:cs typeface="Times New Roman" panose="02020603050405020304" pitchFamily="18" charset="0"/>
              </a:rPr>
              <a:t>Romanov et al. (2021)</a:t>
            </a:r>
            <a:r>
              <a:rPr lang="en-US" sz="2000" dirty="0">
                <a:solidFill>
                  <a:schemeClr val="bg1"/>
                </a:solidFill>
                <a:latin typeface="Times New Roman" panose="02020603050405020304" pitchFamily="18" charset="0"/>
                <a:cs typeface="Times New Roman" panose="02020603050405020304" pitchFamily="18" charset="0"/>
              </a:rPr>
              <a:t> categorized detection into two types: individual profile analysis and coordinated fake activities (botnets), using ensemble methods and social network metrics. Meanwhile, </a:t>
            </a:r>
            <a:r>
              <a:rPr lang="en-US" sz="2000" b="1" dirty="0">
                <a:solidFill>
                  <a:schemeClr val="bg1"/>
                </a:solidFill>
                <a:latin typeface="Times New Roman" panose="02020603050405020304" pitchFamily="18" charset="0"/>
                <a:cs typeface="Times New Roman" panose="02020603050405020304" pitchFamily="18" charset="0"/>
              </a:rPr>
              <a:t>Singh et al. (2022)</a:t>
            </a:r>
            <a:r>
              <a:rPr lang="en-US" sz="2000" dirty="0">
                <a:solidFill>
                  <a:schemeClr val="bg1"/>
                </a:solidFill>
                <a:latin typeface="Times New Roman" panose="02020603050405020304" pitchFamily="18" charset="0"/>
                <a:cs typeface="Times New Roman" panose="02020603050405020304" pitchFamily="18" charset="0"/>
              </a:rPr>
              <a:t> integrated deep learning models like CNNs and RNNs in an ensemble setup to capture complex behavior and textual inconsistencies in fake profiles. These studies show that ensemble learning significantly improves classification performance. However, many of them lacked real-time deployment capabilities, which this project addresses through Flask-based integration, enabling real-time detection and reporting of fake profiles</a:t>
            </a:r>
            <a:r>
              <a:rPr lang="en-US" sz="2000" dirty="0">
                <a:solidFill>
                  <a:schemeClr val="bg1"/>
                </a:solidFill>
              </a:rPr>
              <a:t>.</a:t>
            </a:r>
            <a:endParaRPr lang="en-IN" sz="2000" dirty="0">
              <a:solidFill>
                <a:schemeClr val="bg1"/>
              </a:solidFill>
            </a:endParaRPr>
          </a:p>
        </p:txBody>
      </p:sp>
    </p:spTree>
    <p:extLst>
      <p:ext uri="{BB962C8B-B14F-4D97-AF65-F5344CB8AC3E}">
        <p14:creationId xmlns:p14="http://schemas.microsoft.com/office/powerpoint/2010/main" val="4091186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6BDF61-CE30-F08B-41B3-1079D757A4D0}"/>
              </a:ext>
            </a:extLst>
          </p:cNvPr>
          <p:cNvSpPr txBox="1"/>
          <p:nvPr/>
        </p:nvSpPr>
        <p:spPr>
          <a:xfrm>
            <a:off x="352926" y="336884"/>
            <a:ext cx="8791074"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Proposed Solution Overview</a:t>
            </a:r>
          </a:p>
        </p:txBody>
      </p:sp>
      <p:sp>
        <p:nvSpPr>
          <p:cNvPr id="5" name="TextBox 4">
            <a:extLst>
              <a:ext uri="{FF2B5EF4-FFF2-40B4-BE49-F238E27FC236}">
                <a16:creationId xmlns:a16="http://schemas.microsoft.com/office/drawing/2014/main" id="{1B5C1FBB-7891-C70E-C1EA-2C0DBFB577BB}"/>
              </a:ext>
            </a:extLst>
          </p:cNvPr>
          <p:cNvSpPr txBox="1"/>
          <p:nvPr/>
        </p:nvSpPr>
        <p:spPr>
          <a:xfrm>
            <a:off x="352927" y="1074818"/>
            <a:ext cx="11325726" cy="3785652"/>
          </a:xfrm>
          <a:prstGeom prst="rect">
            <a:avLst/>
          </a:prstGeom>
          <a:noFill/>
        </p:spPr>
        <p:txBody>
          <a:bodyPr wrap="square">
            <a:spAutoFit/>
          </a:bodyPr>
          <a:lstStyle/>
          <a:p>
            <a:r>
              <a:rPr lang="en-US" sz="2000" dirty="0">
                <a:solidFill>
                  <a:schemeClr val="bg1"/>
                </a:solidFill>
                <a:latin typeface="Times New Roman" panose="02020603050405020304" pitchFamily="18" charset="0"/>
                <a:cs typeface="Times New Roman" panose="02020603050405020304" pitchFamily="18" charset="0"/>
              </a:rPr>
              <a:t>The proposed solution aims to detect fake social media profiles using </a:t>
            </a:r>
            <a:r>
              <a:rPr lang="en-US" sz="2000" b="1" dirty="0">
                <a:solidFill>
                  <a:schemeClr val="bg1"/>
                </a:solidFill>
                <a:latin typeface="Times New Roman" panose="02020603050405020304" pitchFamily="18" charset="0"/>
                <a:cs typeface="Times New Roman" panose="02020603050405020304" pitchFamily="18" charset="0"/>
              </a:rPr>
              <a:t>ensemble learning techniques</a:t>
            </a:r>
            <a:r>
              <a:rPr lang="en-US" sz="2000" dirty="0">
                <a:solidFill>
                  <a:schemeClr val="bg1"/>
                </a:solidFill>
                <a:latin typeface="Times New Roman" panose="02020603050405020304" pitchFamily="18" charset="0"/>
                <a:cs typeface="Times New Roman" panose="02020603050405020304" pitchFamily="18" charset="0"/>
              </a:rPr>
              <a:t>, which combine the strengths of multiple machine learning models to improve classification accuracy and reliability. This system integrates algorithms such as </a:t>
            </a:r>
            <a:r>
              <a:rPr lang="en-US" sz="2000" b="1" dirty="0">
                <a:solidFill>
                  <a:schemeClr val="bg1"/>
                </a:solidFill>
                <a:latin typeface="Times New Roman" panose="02020603050405020304" pitchFamily="18" charset="0"/>
                <a:cs typeface="Times New Roman" panose="02020603050405020304" pitchFamily="18" charset="0"/>
              </a:rPr>
              <a:t>Random Forest</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err="1">
                <a:solidFill>
                  <a:schemeClr val="bg1"/>
                </a:solidFill>
                <a:latin typeface="Times New Roman" panose="02020603050405020304" pitchFamily="18" charset="0"/>
                <a:cs typeface="Times New Roman" panose="02020603050405020304" pitchFamily="18" charset="0"/>
              </a:rPr>
              <a:t>XGBoost</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Support Vector Machine (SVM)</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Logistic Regression</a:t>
            </a:r>
            <a:r>
              <a:rPr lang="en-US" sz="2000" dirty="0">
                <a:solidFill>
                  <a:schemeClr val="bg1"/>
                </a:solidFill>
                <a:latin typeface="Times New Roman" panose="02020603050405020304" pitchFamily="18" charset="0"/>
                <a:cs typeface="Times New Roman" panose="02020603050405020304" pitchFamily="18" charset="0"/>
              </a:rPr>
              <a:t> to analyze user data and identify suspicious patterns. The workflow begins with </a:t>
            </a:r>
            <a:r>
              <a:rPr lang="en-US" sz="2000" b="1" dirty="0">
                <a:solidFill>
                  <a:schemeClr val="bg1"/>
                </a:solidFill>
                <a:latin typeface="Times New Roman" panose="02020603050405020304" pitchFamily="18" charset="0"/>
                <a:cs typeface="Times New Roman" panose="02020603050405020304" pitchFamily="18" charset="0"/>
              </a:rPr>
              <a:t>data collection</a:t>
            </a:r>
            <a:r>
              <a:rPr lang="en-US" sz="2000" dirty="0">
                <a:solidFill>
                  <a:schemeClr val="bg1"/>
                </a:solidFill>
                <a:latin typeface="Times New Roman" panose="02020603050405020304" pitchFamily="18" charset="0"/>
                <a:cs typeface="Times New Roman" panose="02020603050405020304" pitchFamily="18" charset="0"/>
              </a:rPr>
              <a:t> from social media platforms using APIs and web scraping tools, followed by </a:t>
            </a:r>
            <a:r>
              <a:rPr lang="en-US" sz="2000" b="1" dirty="0">
                <a:solidFill>
                  <a:schemeClr val="bg1"/>
                </a:solidFill>
                <a:latin typeface="Times New Roman" panose="02020603050405020304" pitchFamily="18" charset="0"/>
                <a:cs typeface="Times New Roman" panose="02020603050405020304" pitchFamily="18" charset="0"/>
              </a:rPr>
              <a:t>data preprocessing</a:t>
            </a:r>
            <a:r>
              <a:rPr lang="en-US" sz="2000" dirty="0">
                <a:solidFill>
                  <a:schemeClr val="bg1"/>
                </a:solidFill>
                <a:latin typeface="Times New Roman" panose="02020603050405020304" pitchFamily="18" charset="0"/>
                <a:cs typeface="Times New Roman" panose="02020603050405020304" pitchFamily="18" charset="0"/>
              </a:rPr>
              <a:t> to clean and normalize the data. Next, </a:t>
            </a:r>
            <a:r>
              <a:rPr lang="en-US" sz="2000" b="1" dirty="0">
                <a:solidFill>
                  <a:schemeClr val="bg1"/>
                </a:solidFill>
                <a:latin typeface="Times New Roman" panose="02020603050405020304" pitchFamily="18" charset="0"/>
                <a:cs typeface="Times New Roman" panose="02020603050405020304" pitchFamily="18" charset="0"/>
              </a:rPr>
              <a:t>feature extraction</a:t>
            </a:r>
            <a:r>
              <a:rPr lang="en-US" sz="2000" dirty="0">
                <a:solidFill>
                  <a:schemeClr val="bg1"/>
                </a:solidFill>
                <a:latin typeface="Times New Roman" panose="02020603050405020304" pitchFamily="18" charset="0"/>
                <a:cs typeface="Times New Roman" panose="02020603050405020304" pitchFamily="18" charset="0"/>
              </a:rPr>
              <a:t> is performed, focusing on both profile-based features (e.g., account age, profile completeness) and activity-based features (e.g., posting frequency, sentiment). These features are used to train the ensemble models, which are evaluated using metrics like accuracy, precision, recall, and F1-score. The best-performing model is then deployed using the </a:t>
            </a:r>
            <a:r>
              <a:rPr lang="en-US" sz="2000" b="1" dirty="0">
                <a:solidFill>
                  <a:schemeClr val="bg1"/>
                </a:solidFill>
                <a:latin typeface="Times New Roman" panose="02020603050405020304" pitchFamily="18" charset="0"/>
                <a:cs typeface="Times New Roman" panose="02020603050405020304" pitchFamily="18" charset="0"/>
              </a:rPr>
              <a:t>Flask framework</a:t>
            </a:r>
            <a:r>
              <a:rPr lang="en-US" sz="2000" dirty="0">
                <a:solidFill>
                  <a:schemeClr val="bg1"/>
                </a:solidFill>
                <a:latin typeface="Times New Roman" panose="02020603050405020304" pitchFamily="18" charset="0"/>
                <a:cs typeface="Times New Roman" panose="02020603050405020304" pitchFamily="18" charset="0"/>
              </a:rPr>
              <a:t>, enabling </a:t>
            </a:r>
            <a:r>
              <a:rPr lang="en-US" sz="2000" b="1" dirty="0">
                <a:solidFill>
                  <a:schemeClr val="bg1"/>
                </a:solidFill>
                <a:latin typeface="Times New Roman" panose="02020603050405020304" pitchFamily="18" charset="0"/>
                <a:cs typeface="Times New Roman" panose="02020603050405020304" pitchFamily="18" charset="0"/>
              </a:rPr>
              <a:t>real-time detection</a:t>
            </a:r>
            <a:r>
              <a:rPr lang="en-US" sz="2000" dirty="0">
                <a:solidFill>
                  <a:schemeClr val="bg1"/>
                </a:solidFill>
                <a:latin typeface="Times New Roman" panose="02020603050405020304" pitchFamily="18" charset="0"/>
                <a:cs typeface="Times New Roman" panose="02020603050405020304" pitchFamily="18" charset="0"/>
              </a:rPr>
              <a:t> through a user-friendly web interface. The system is also scalable and can be continuously updated with new data to adapt to evolving fake profile behaviors, ensuring high performance and effective detection in real-world scenarios.</a:t>
            </a:r>
            <a:endParaRPr lang="en-IN"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3454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78D5C2-0CB7-5797-06FE-F87AE43FB3E4}"/>
              </a:ext>
            </a:extLst>
          </p:cNvPr>
          <p:cNvSpPr txBox="1"/>
          <p:nvPr/>
        </p:nvSpPr>
        <p:spPr>
          <a:xfrm>
            <a:off x="352926" y="288758"/>
            <a:ext cx="8791074"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SYSTEM ARCHITECTURE</a:t>
            </a:r>
          </a:p>
        </p:txBody>
      </p:sp>
      <p:sp>
        <p:nvSpPr>
          <p:cNvPr id="5" name="TextBox 4">
            <a:extLst>
              <a:ext uri="{FF2B5EF4-FFF2-40B4-BE49-F238E27FC236}">
                <a16:creationId xmlns:a16="http://schemas.microsoft.com/office/drawing/2014/main" id="{A1B53F5E-B583-70E5-B01D-FE86E7820968}"/>
              </a:ext>
            </a:extLst>
          </p:cNvPr>
          <p:cNvSpPr txBox="1"/>
          <p:nvPr/>
        </p:nvSpPr>
        <p:spPr>
          <a:xfrm>
            <a:off x="850232" y="1010653"/>
            <a:ext cx="4555957" cy="4893647"/>
          </a:xfrm>
          <a:prstGeom prst="rect">
            <a:avLst/>
          </a:prstGeom>
          <a:noFill/>
        </p:spPr>
        <p:txBody>
          <a:bodyPr wrap="square">
            <a:spAutoFit/>
          </a:bodyPr>
          <a:lstStyle/>
          <a:p>
            <a:pPr>
              <a:buNone/>
            </a:pPr>
            <a:r>
              <a:rPr lang="en-US" sz="2400" b="1" dirty="0">
                <a:solidFill>
                  <a:schemeClr val="bg1"/>
                </a:solidFill>
                <a:latin typeface="Times New Roman" panose="02020603050405020304" pitchFamily="18" charset="0"/>
                <a:cs typeface="Times New Roman" panose="02020603050405020304" pitchFamily="18" charset="0"/>
              </a:rPr>
              <a:t>Flow of the system</a:t>
            </a:r>
            <a:r>
              <a:rPr lang="en-US" sz="2400" dirty="0">
                <a:solidFill>
                  <a:schemeClr val="bg1"/>
                </a:solidFill>
                <a:latin typeface="Times New Roman" panose="02020603050405020304" pitchFamily="18" charset="0"/>
                <a:cs typeface="Times New Roman" panose="02020603050405020304" pitchFamily="18" charset="0"/>
              </a:rPr>
              <a:t>:</a:t>
            </a:r>
          </a:p>
          <a:p>
            <a:pPr>
              <a:buNone/>
            </a:pPr>
            <a:endParaRPr lang="en-US" sz="24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Data Collection</a:t>
            </a:r>
          </a:p>
          <a:p>
            <a:endParaRPr lang="en-US" sz="24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Preprocessing</a:t>
            </a:r>
          </a:p>
          <a:p>
            <a:endParaRPr lang="en-US" sz="24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Feature Engineering</a:t>
            </a:r>
          </a:p>
          <a:p>
            <a:endParaRPr lang="en-US" sz="24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Model Training</a:t>
            </a:r>
          </a:p>
          <a:p>
            <a:endParaRPr lang="en-US" sz="24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Real-Time</a:t>
            </a:r>
          </a:p>
          <a:p>
            <a:endParaRPr lang="en-US" sz="24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 Detection</a:t>
            </a:r>
          </a:p>
        </p:txBody>
      </p:sp>
      <p:pic>
        <p:nvPicPr>
          <p:cNvPr id="7" name="Picture 6">
            <a:extLst>
              <a:ext uri="{FF2B5EF4-FFF2-40B4-BE49-F238E27FC236}">
                <a16:creationId xmlns:a16="http://schemas.microsoft.com/office/drawing/2014/main" id="{1A21D14E-B46D-9FF0-6027-A22C6C9630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7808" y="1691680"/>
            <a:ext cx="6350423" cy="3923057"/>
          </a:xfrm>
          <a:prstGeom prst="rect">
            <a:avLst/>
          </a:prstGeom>
        </p:spPr>
      </p:pic>
    </p:spTree>
    <p:extLst>
      <p:ext uri="{BB962C8B-B14F-4D97-AF65-F5344CB8AC3E}">
        <p14:creationId xmlns:p14="http://schemas.microsoft.com/office/powerpoint/2010/main" val="102336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71E626-624D-FD0B-D7FF-5463CEA47C8C}"/>
              </a:ext>
            </a:extLst>
          </p:cNvPr>
          <p:cNvSpPr txBox="1"/>
          <p:nvPr/>
        </p:nvSpPr>
        <p:spPr>
          <a:xfrm>
            <a:off x="529390" y="1283368"/>
            <a:ext cx="6914148" cy="415498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Dataset Type</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Twitter profile datasets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Number of Datasets</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Two (fusers and users)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Rows per Dataset</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6,825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Columns per Dataset</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38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Content</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User profile information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Purpose</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Used for fake profile detection </a:t>
            </a:r>
          </a:p>
        </p:txBody>
      </p:sp>
      <p:sp>
        <p:nvSpPr>
          <p:cNvPr id="5" name="TextBox 4">
            <a:extLst>
              <a:ext uri="{FF2B5EF4-FFF2-40B4-BE49-F238E27FC236}">
                <a16:creationId xmlns:a16="http://schemas.microsoft.com/office/drawing/2014/main" id="{6D1392F6-350D-30B7-3208-52D12B50D329}"/>
              </a:ext>
            </a:extLst>
          </p:cNvPr>
          <p:cNvSpPr txBox="1"/>
          <p:nvPr/>
        </p:nvSpPr>
        <p:spPr>
          <a:xfrm>
            <a:off x="401053" y="336884"/>
            <a:ext cx="8742947"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DATA COLLECTION</a:t>
            </a:r>
          </a:p>
        </p:txBody>
      </p:sp>
      <p:pic>
        <p:nvPicPr>
          <p:cNvPr id="6" name="Picture 5">
            <a:extLst>
              <a:ext uri="{FF2B5EF4-FFF2-40B4-BE49-F238E27FC236}">
                <a16:creationId xmlns:a16="http://schemas.microsoft.com/office/drawing/2014/main" id="{75B755A9-AC41-4749-CBF8-E1BE5BEB4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0611" y="1090862"/>
            <a:ext cx="3994484" cy="4716379"/>
          </a:xfrm>
          <a:prstGeom prst="rect">
            <a:avLst/>
          </a:prstGeom>
        </p:spPr>
      </p:pic>
    </p:spTree>
    <p:extLst>
      <p:ext uri="{BB962C8B-B14F-4D97-AF65-F5344CB8AC3E}">
        <p14:creationId xmlns:p14="http://schemas.microsoft.com/office/powerpoint/2010/main" val="2891514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3086AE-6810-F86C-5332-4AB1D1A9FAF9}"/>
              </a:ext>
            </a:extLst>
          </p:cNvPr>
          <p:cNvSpPr txBox="1"/>
          <p:nvPr/>
        </p:nvSpPr>
        <p:spPr>
          <a:xfrm>
            <a:off x="224589" y="320842"/>
            <a:ext cx="8919411"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DATA PREPROCESSING</a:t>
            </a:r>
          </a:p>
        </p:txBody>
      </p:sp>
      <p:sp>
        <p:nvSpPr>
          <p:cNvPr id="5" name="TextBox 4">
            <a:extLst>
              <a:ext uri="{FF2B5EF4-FFF2-40B4-BE49-F238E27FC236}">
                <a16:creationId xmlns:a16="http://schemas.microsoft.com/office/drawing/2014/main" id="{7422A8EA-32D5-5FE2-C278-CA7A3CA4608B}"/>
              </a:ext>
            </a:extLst>
          </p:cNvPr>
          <p:cNvSpPr txBox="1"/>
          <p:nvPr/>
        </p:nvSpPr>
        <p:spPr>
          <a:xfrm>
            <a:off x="352925" y="1058779"/>
            <a:ext cx="11389895" cy="4708981"/>
          </a:xfrm>
          <a:prstGeom prst="rect">
            <a:avLst/>
          </a:prstGeom>
          <a:noFill/>
        </p:spPr>
        <p:txBody>
          <a:bodyPr wrap="square">
            <a:spAutoFit/>
          </a:bodyPr>
          <a:lstStyle/>
          <a:p>
            <a:r>
              <a:rPr lang="en-IN" sz="2000" dirty="0">
                <a:solidFill>
                  <a:schemeClr val="bg1"/>
                </a:solidFill>
                <a:latin typeface="Times New Roman" panose="02020603050405020304" pitchFamily="18" charset="0"/>
                <a:cs typeface="Times New Roman" panose="02020603050405020304" pitchFamily="18" charset="0"/>
              </a:rPr>
              <a:t>1.</a:t>
            </a:r>
            <a:r>
              <a:rPr lang="en-IN" sz="2000" b="1" dirty="0">
                <a:solidFill>
                  <a:schemeClr val="bg1"/>
                </a:solidFill>
                <a:latin typeface="Times New Roman" panose="02020603050405020304" pitchFamily="18" charset="0"/>
                <a:cs typeface="Times New Roman" panose="02020603050405020304" pitchFamily="18" charset="0"/>
              </a:rPr>
              <a:t>Data Cleaning: </a:t>
            </a:r>
            <a:r>
              <a:rPr lang="en-IN" sz="2000" dirty="0">
                <a:solidFill>
                  <a:schemeClr val="bg1"/>
                </a:solidFill>
                <a:latin typeface="Times New Roman" panose="02020603050405020304" pitchFamily="18" charset="0"/>
                <a:cs typeface="Times New Roman" panose="02020603050405020304" pitchFamily="18" charset="0"/>
              </a:rPr>
              <a:t>Remove duplicate records.</a:t>
            </a:r>
          </a:p>
          <a:p>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2</a:t>
            </a:r>
            <a:r>
              <a:rPr lang="en-IN" sz="2000" b="1" dirty="0">
                <a:solidFill>
                  <a:schemeClr val="bg1"/>
                </a:solidFill>
                <a:latin typeface="Times New Roman" panose="02020603050405020304" pitchFamily="18" charset="0"/>
                <a:cs typeface="Times New Roman" panose="02020603050405020304" pitchFamily="18" charset="0"/>
              </a:rPr>
              <a:t>. Handling Missing </a:t>
            </a:r>
            <a:r>
              <a:rPr lang="en-IN" sz="2000" dirty="0">
                <a:solidFill>
                  <a:schemeClr val="bg1"/>
                </a:solidFill>
                <a:latin typeface="Times New Roman" panose="02020603050405020304" pitchFamily="18" charset="0"/>
                <a:cs typeface="Times New Roman" panose="02020603050405020304" pitchFamily="18" charset="0"/>
              </a:rPr>
              <a:t>Data:</a:t>
            </a:r>
            <a:r>
              <a:rPr lang="en-US" sz="2000" dirty="0">
                <a:solidFill>
                  <a:schemeClr val="bg1"/>
                </a:solidFill>
                <a:latin typeface="Times New Roman" panose="02020603050405020304" pitchFamily="18" charset="0"/>
                <a:cs typeface="Times New Roman" panose="02020603050405020304" pitchFamily="18" charset="0"/>
              </a:rPr>
              <a:t>Remove rows/columns with too many missing values</a:t>
            </a:r>
            <a:r>
              <a:rPr lang="en-IN" sz="2000" dirty="0">
                <a:solidFill>
                  <a:schemeClr val="bg1"/>
                </a:solidFill>
                <a:latin typeface="Times New Roman" panose="02020603050405020304" pitchFamily="18" charset="0"/>
                <a:cs typeface="Times New Roman" panose="02020603050405020304" pitchFamily="18" charset="0"/>
              </a:rPr>
              <a:t>.</a:t>
            </a:r>
          </a:p>
          <a:p>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3</a:t>
            </a:r>
            <a:r>
              <a:rPr lang="en-IN" sz="2000" b="1" dirty="0">
                <a:solidFill>
                  <a:schemeClr val="bg1"/>
                </a:solidFill>
                <a:latin typeface="Times New Roman" panose="02020603050405020304" pitchFamily="18" charset="0"/>
                <a:cs typeface="Times New Roman" panose="02020603050405020304" pitchFamily="18" charset="0"/>
              </a:rPr>
              <a:t>. Feature Selection &amp; Engineering</a:t>
            </a:r>
            <a:r>
              <a:rPr lang="en-IN" sz="2000" dirty="0">
                <a:solidFill>
                  <a:schemeClr val="bg1"/>
                </a:solidFill>
                <a:latin typeface="Times New Roman" panose="02020603050405020304" pitchFamily="18" charset="0"/>
                <a:cs typeface="Times New Roman" panose="02020603050405020304" pitchFamily="18" charset="0"/>
              </a:rPr>
              <a:t>:</a:t>
            </a:r>
            <a:r>
              <a:rPr lang="en-US" sz="2000" dirty="0">
                <a:solidFill>
                  <a:schemeClr val="bg1"/>
                </a:solidFill>
                <a:latin typeface="Times New Roman" panose="02020603050405020304" pitchFamily="18" charset="0"/>
                <a:cs typeface="Times New Roman" panose="02020603050405020304" pitchFamily="18" charset="0"/>
              </a:rPr>
              <a:t>Convert categorical variables into numerical representations (One-Hot Encoding or Label Encoding)</a:t>
            </a:r>
          </a:p>
          <a:p>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4</a:t>
            </a:r>
            <a:r>
              <a:rPr lang="en-IN" sz="2000" b="1" dirty="0">
                <a:solidFill>
                  <a:schemeClr val="bg1"/>
                </a:solidFill>
                <a:latin typeface="Times New Roman" panose="02020603050405020304" pitchFamily="18" charset="0"/>
                <a:cs typeface="Times New Roman" panose="02020603050405020304" pitchFamily="18" charset="0"/>
              </a:rPr>
              <a:t>. Data Transformation &amp; Scaling</a:t>
            </a:r>
            <a:r>
              <a:rPr lang="en-IN" sz="2000" dirty="0">
                <a:solidFill>
                  <a:schemeClr val="bg1"/>
                </a:solidFill>
                <a:latin typeface="Times New Roman" panose="02020603050405020304" pitchFamily="18" charset="0"/>
                <a:cs typeface="Times New Roman" panose="02020603050405020304" pitchFamily="18" charset="0"/>
              </a:rPr>
              <a:t>: Normalize numerical data using Standard Scaler  and </a:t>
            </a:r>
            <a:r>
              <a:rPr lang="en-US" sz="2000" dirty="0">
                <a:solidFill>
                  <a:schemeClr val="bg1"/>
                </a:solidFill>
                <a:latin typeface="Times New Roman" panose="02020603050405020304" pitchFamily="18" charset="0"/>
                <a:cs typeface="Times New Roman" panose="02020603050405020304" pitchFamily="18" charset="0"/>
              </a:rPr>
              <a:t>Convert </a:t>
            </a:r>
            <a:r>
              <a:rPr lang="en-US" sz="2000" dirty="0" err="1">
                <a:solidFill>
                  <a:schemeClr val="bg1"/>
                </a:solidFill>
                <a:latin typeface="Times New Roman" panose="02020603050405020304" pitchFamily="18" charset="0"/>
                <a:cs typeface="Times New Roman" panose="02020603050405020304" pitchFamily="18" charset="0"/>
              </a:rPr>
              <a:t>boolean</a:t>
            </a:r>
            <a:r>
              <a:rPr lang="en-US" sz="2000" dirty="0">
                <a:solidFill>
                  <a:schemeClr val="bg1"/>
                </a:solidFill>
                <a:latin typeface="Times New Roman" panose="02020603050405020304" pitchFamily="18" charset="0"/>
                <a:cs typeface="Times New Roman" panose="02020603050405020304" pitchFamily="18" charset="0"/>
              </a:rPr>
              <a:t> values to numeric (0/1).</a:t>
            </a:r>
          </a:p>
          <a:p>
            <a:endParaRPr lang="en-US" sz="2000" dirty="0">
              <a:solidFill>
                <a:schemeClr val="bg1"/>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cs typeface="Times New Roman" panose="02020603050405020304" pitchFamily="18" charset="0"/>
              </a:rPr>
              <a:t>5</a:t>
            </a:r>
            <a:r>
              <a:rPr lang="en-US" sz="2000" b="1" dirty="0">
                <a:solidFill>
                  <a:schemeClr val="bg1"/>
                </a:solidFill>
                <a:latin typeface="Times New Roman" panose="02020603050405020304" pitchFamily="18" charset="0"/>
                <a:cs typeface="Times New Roman" panose="02020603050405020304" pitchFamily="18" charset="0"/>
              </a:rPr>
              <a:t>.</a:t>
            </a:r>
            <a:r>
              <a:rPr lang="en-IN" sz="2000" b="1" dirty="0">
                <a:solidFill>
                  <a:schemeClr val="bg1"/>
                </a:solidFill>
                <a:latin typeface="Times New Roman" panose="02020603050405020304" pitchFamily="18" charset="0"/>
                <a:cs typeface="Times New Roman" panose="02020603050405020304" pitchFamily="18" charset="0"/>
              </a:rPr>
              <a:t> Encoding Categorical Variables</a:t>
            </a:r>
            <a:r>
              <a:rPr lang="en-US" sz="2000" dirty="0">
                <a:solidFill>
                  <a:schemeClr val="bg1"/>
                </a:solidFill>
                <a:latin typeface="Times New Roman" panose="02020603050405020304" pitchFamily="18" charset="0"/>
                <a:cs typeface="Times New Roman" panose="02020603050405020304" pitchFamily="18" charset="0"/>
              </a:rPr>
              <a:t>:Convert textual data into numerical format using Label Encoding or One-Hot Encoding.</a:t>
            </a:r>
          </a:p>
          <a:p>
            <a:endParaRPr lang="en-US" sz="2000" dirty="0">
              <a:solidFill>
                <a:schemeClr val="bg1"/>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cs typeface="Times New Roman" panose="02020603050405020304" pitchFamily="18" charset="0"/>
              </a:rPr>
              <a:t>6.</a:t>
            </a:r>
            <a:r>
              <a:rPr lang="en-IN" sz="2000" dirty="0">
                <a:solidFill>
                  <a:schemeClr val="bg1"/>
                </a:solidFill>
                <a:latin typeface="Times New Roman" panose="02020603050405020304" pitchFamily="18" charset="0"/>
                <a:cs typeface="Times New Roman" panose="02020603050405020304" pitchFamily="18" charset="0"/>
              </a:rPr>
              <a:t> </a:t>
            </a:r>
            <a:r>
              <a:rPr lang="en-IN" sz="2000" b="1" dirty="0">
                <a:solidFill>
                  <a:schemeClr val="bg1"/>
                </a:solidFill>
                <a:latin typeface="Times New Roman" panose="02020603050405020304" pitchFamily="18" charset="0"/>
                <a:cs typeface="Times New Roman" panose="02020603050405020304" pitchFamily="18" charset="0"/>
              </a:rPr>
              <a:t>Splitting the Datase</a:t>
            </a:r>
            <a:r>
              <a:rPr lang="en-IN" sz="2000" dirty="0">
                <a:solidFill>
                  <a:schemeClr val="bg1"/>
                </a:solidFill>
                <a:latin typeface="Times New Roman" panose="02020603050405020304" pitchFamily="18" charset="0"/>
                <a:cs typeface="Times New Roman" panose="02020603050405020304" pitchFamily="18" charset="0"/>
              </a:rPr>
              <a:t>t</a:t>
            </a:r>
            <a:r>
              <a:rPr lang="en-US" sz="2000" dirty="0">
                <a:solidFill>
                  <a:schemeClr val="bg1"/>
                </a:solidFill>
                <a:latin typeface="Times New Roman" panose="02020603050405020304" pitchFamily="18" charset="0"/>
                <a:cs typeface="Times New Roman" panose="02020603050405020304" pitchFamily="18" charset="0"/>
              </a:rPr>
              <a:t>:Split data into training and testing sets (e.g., 80% train, 20% test).</a:t>
            </a:r>
          </a:p>
          <a:p>
            <a:endParaRPr lang="en-IN"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4694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DDD5FA-2A12-0027-2F00-A51DB9CED83C}"/>
              </a:ext>
            </a:extLst>
          </p:cNvPr>
          <p:cNvSpPr txBox="1"/>
          <p:nvPr/>
        </p:nvSpPr>
        <p:spPr>
          <a:xfrm>
            <a:off x="272716" y="304800"/>
            <a:ext cx="8871284"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ENSEMBLE LEARNING</a:t>
            </a:r>
          </a:p>
        </p:txBody>
      </p:sp>
      <p:sp>
        <p:nvSpPr>
          <p:cNvPr id="4" name="Rectangle 1">
            <a:extLst>
              <a:ext uri="{FF2B5EF4-FFF2-40B4-BE49-F238E27FC236}">
                <a16:creationId xmlns:a16="http://schemas.microsoft.com/office/drawing/2014/main" id="{3FDFE116-96BF-006D-461E-49F58721048A}"/>
              </a:ext>
            </a:extLst>
          </p:cNvPr>
          <p:cNvSpPr>
            <a:spLocks noChangeArrowheads="1"/>
          </p:cNvSpPr>
          <p:nvPr/>
        </p:nvSpPr>
        <p:spPr bwMode="auto">
          <a:xfrm>
            <a:off x="481264" y="1205114"/>
            <a:ext cx="10198074"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Combines predictions from multiple models for better performance.</a:t>
            </a:r>
          </a:p>
          <a:p>
            <a:endParaRPr lang="en-US" sz="2000" b="1"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Stacking: Layers models to refine results.</a:t>
            </a:r>
          </a:p>
          <a:p>
            <a:endParaRPr lang="en-US" sz="2000" b="1"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Boosting: Focuses on correcting previous errors.</a:t>
            </a:r>
          </a:p>
          <a:p>
            <a:endParaRPr lang="en-US" sz="2000" b="1"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Results in better accuracy, stability, and generalization.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2868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B5C381-ECC4-9CE4-848B-57B3014E500B}"/>
              </a:ext>
            </a:extLst>
          </p:cNvPr>
          <p:cNvSpPr txBox="1"/>
          <p:nvPr/>
        </p:nvSpPr>
        <p:spPr>
          <a:xfrm>
            <a:off x="208547" y="368968"/>
            <a:ext cx="8935453"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MODEL TRAINING</a:t>
            </a:r>
            <a:endParaRPr lang="en-IN" sz="3200" b="1" dirty="0">
              <a:solidFill>
                <a:schemeClr val="bg1"/>
              </a:solidFill>
            </a:endParaRPr>
          </a:p>
        </p:txBody>
      </p:sp>
      <p:sp>
        <p:nvSpPr>
          <p:cNvPr id="5" name="TextBox 4">
            <a:extLst>
              <a:ext uri="{FF2B5EF4-FFF2-40B4-BE49-F238E27FC236}">
                <a16:creationId xmlns:a16="http://schemas.microsoft.com/office/drawing/2014/main" id="{F27B5BD3-F9FE-4726-931B-19E36AD4DE1F}"/>
              </a:ext>
            </a:extLst>
          </p:cNvPr>
          <p:cNvSpPr txBox="1"/>
          <p:nvPr/>
        </p:nvSpPr>
        <p:spPr>
          <a:xfrm>
            <a:off x="208547" y="953742"/>
            <a:ext cx="7844589" cy="5535290"/>
          </a:xfrm>
          <a:prstGeom prst="rect">
            <a:avLst/>
          </a:prstGeom>
          <a:noFill/>
        </p:spPr>
        <p:txBody>
          <a:bodyPr wrap="square">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Logistic Regression (LG)</a:t>
            </a:r>
            <a:r>
              <a:rPr lang="en-US" sz="2000" dirty="0">
                <a:solidFill>
                  <a:schemeClr val="bg1"/>
                </a:solidFill>
                <a:latin typeface="Times New Roman" panose="02020603050405020304" pitchFamily="18" charset="0"/>
                <a:cs typeface="Times New Roman" panose="02020603050405020304" pitchFamily="18" charset="0"/>
              </a:rPr>
              <a:t> – A statistical model that predicts probabilities and is widely used for binary classification problems.</a:t>
            </a: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r>
              <a:rPr lang="en-US" sz="2000" b="1" dirty="0">
                <a:solidFill>
                  <a:schemeClr val="bg1"/>
                </a:solidFill>
                <a:latin typeface="Times New Roman" panose="02020603050405020304" pitchFamily="18" charset="0"/>
                <a:cs typeface="Times New Roman" panose="02020603050405020304" pitchFamily="18" charset="0"/>
              </a:rPr>
              <a:t>Naïve Bayes (NB)</a:t>
            </a:r>
            <a:r>
              <a:rPr lang="en-US" sz="2000" dirty="0">
                <a:solidFill>
                  <a:schemeClr val="bg1"/>
                </a:solidFill>
                <a:latin typeface="Times New Roman" panose="02020603050405020304" pitchFamily="18" charset="0"/>
                <a:cs typeface="Times New Roman" panose="02020603050405020304" pitchFamily="18" charset="0"/>
              </a:rPr>
              <a:t> – A probabilistic classifier based on Bayes’ theorem, suitable for text-based and categorical data.</a:t>
            </a: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r>
              <a:rPr lang="en-US" sz="2000" b="1" dirty="0">
                <a:solidFill>
                  <a:schemeClr val="bg1"/>
                </a:solidFill>
                <a:latin typeface="Times New Roman" panose="02020603050405020304" pitchFamily="18" charset="0"/>
                <a:cs typeface="Times New Roman" panose="02020603050405020304" pitchFamily="18" charset="0"/>
              </a:rPr>
              <a:t>Support Vector Machine (SVM)</a:t>
            </a:r>
            <a:r>
              <a:rPr lang="en-US" sz="2000" dirty="0">
                <a:solidFill>
                  <a:schemeClr val="bg1"/>
                </a:solidFill>
                <a:latin typeface="Times New Roman" panose="02020603050405020304" pitchFamily="18" charset="0"/>
                <a:cs typeface="Times New Roman" panose="02020603050405020304" pitchFamily="18" charset="0"/>
              </a:rPr>
              <a:t> – A powerful classifier that </a:t>
            </a:r>
            <a:r>
              <a:rPr lang="en-US" dirty="0">
                <a:solidFill>
                  <a:schemeClr val="bg1"/>
                </a:solidFill>
                <a:latin typeface="Times New Roman" panose="02020603050405020304" pitchFamily="18" charset="0"/>
                <a:cs typeface="Times New Roman" panose="02020603050405020304" pitchFamily="18" charset="0"/>
              </a:rPr>
              <a:t>finds</a:t>
            </a:r>
            <a:r>
              <a:rPr lang="en-US" sz="2000" dirty="0">
                <a:solidFill>
                  <a:schemeClr val="bg1"/>
                </a:solidFill>
                <a:latin typeface="Times New Roman" panose="02020603050405020304" pitchFamily="18" charset="0"/>
                <a:cs typeface="Times New Roman" panose="02020603050405020304" pitchFamily="18" charset="0"/>
              </a:rPr>
              <a:t> the optimal hyperplane to separate data points.</a:t>
            </a: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r>
              <a:rPr lang="en-US" sz="2000" b="1" dirty="0">
                <a:solidFill>
                  <a:schemeClr val="bg1"/>
                </a:solidFill>
                <a:latin typeface="Times New Roman" panose="02020603050405020304" pitchFamily="18" charset="0"/>
                <a:cs typeface="Times New Roman" panose="02020603050405020304" pitchFamily="18" charset="0"/>
              </a:rPr>
              <a:t>Decision Tree (DT)</a:t>
            </a:r>
            <a:r>
              <a:rPr lang="en-US" sz="2000" dirty="0">
                <a:solidFill>
                  <a:schemeClr val="bg1"/>
                </a:solidFill>
                <a:latin typeface="Times New Roman" panose="02020603050405020304" pitchFamily="18" charset="0"/>
                <a:cs typeface="Times New Roman" panose="02020603050405020304" pitchFamily="18" charset="0"/>
              </a:rPr>
              <a:t> – A tree-structured model that splits data into branches based on feature conditions.</a:t>
            </a: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r>
              <a:rPr lang="en-US" sz="2000" b="1" dirty="0">
                <a:solidFill>
                  <a:schemeClr val="bg1"/>
                </a:solidFill>
                <a:latin typeface="Times New Roman" panose="02020603050405020304" pitchFamily="18" charset="0"/>
                <a:cs typeface="Times New Roman" panose="02020603050405020304" pitchFamily="18" charset="0"/>
              </a:rPr>
              <a:t>Random Forest (RF)</a:t>
            </a:r>
            <a:r>
              <a:rPr lang="en-US" sz="2000" dirty="0">
                <a:solidFill>
                  <a:schemeClr val="bg1"/>
                </a:solidFill>
                <a:latin typeface="Times New Roman" panose="02020603050405020304" pitchFamily="18" charset="0"/>
                <a:cs typeface="Times New Roman" panose="02020603050405020304" pitchFamily="18" charset="0"/>
              </a:rPr>
              <a:t> – An ensemble of multiple decision trees to improve accuracy and reduce overfitting.</a:t>
            </a: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r>
              <a:rPr lang="en-US" sz="2000" b="1" dirty="0" err="1">
                <a:solidFill>
                  <a:schemeClr val="bg1"/>
                </a:solidFill>
                <a:latin typeface="Times New Roman" panose="02020603050405020304" pitchFamily="18" charset="0"/>
                <a:cs typeface="Times New Roman" panose="02020603050405020304" pitchFamily="18" charset="0"/>
              </a:rPr>
              <a:t>XGBoost</a:t>
            </a:r>
            <a:r>
              <a:rPr lang="en-US" sz="2000" b="1" dirty="0">
                <a:solidFill>
                  <a:schemeClr val="bg1"/>
                </a:solidFill>
                <a:latin typeface="Times New Roman" panose="02020603050405020304" pitchFamily="18" charset="0"/>
                <a:cs typeface="Times New Roman" panose="02020603050405020304" pitchFamily="18" charset="0"/>
              </a:rPr>
              <a:t> (XGB)</a:t>
            </a:r>
            <a:r>
              <a:rPr lang="en-US" sz="2000" dirty="0">
                <a:solidFill>
                  <a:schemeClr val="bg1"/>
                </a:solidFill>
                <a:latin typeface="Times New Roman" panose="02020603050405020304" pitchFamily="18" charset="0"/>
                <a:cs typeface="Times New Roman" panose="02020603050405020304" pitchFamily="18" charset="0"/>
              </a:rPr>
              <a:t> – A gradient boosting model known for high efficiency and performance in classification tasks.</a:t>
            </a:r>
            <a:endParaRPr lang="en-IN" sz="20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4DA8AF2-3FE5-1EA2-CB17-60F5548168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3136" y="1358784"/>
            <a:ext cx="3914273" cy="4140431"/>
          </a:xfrm>
          <a:prstGeom prst="rect">
            <a:avLst/>
          </a:prstGeom>
        </p:spPr>
      </p:pic>
    </p:spTree>
    <p:extLst>
      <p:ext uri="{BB962C8B-B14F-4D97-AF65-F5344CB8AC3E}">
        <p14:creationId xmlns:p14="http://schemas.microsoft.com/office/powerpoint/2010/main" val="118090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E6B156-F951-1999-1E08-E300BA0D8D9A}"/>
              </a:ext>
            </a:extLst>
          </p:cNvPr>
          <p:cNvSpPr txBox="1"/>
          <p:nvPr/>
        </p:nvSpPr>
        <p:spPr>
          <a:xfrm>
            <a:off x="272716" y="1058780"/>
            <a:ext cx="11245515" cy="1631216"/>
          </a:xfrm>
          <a:prstGeom prst="rect">
            <a:avLst/>
          </a:prstGeom>
          <a:noFill/>
        </p:spPr>
        <p:txBody>
          <a:bodyPr wrap="square">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The trained machine learning models were tested using metrics like </a:t>
            </a:r>
            <a:r>
              <a:rPr lang="en-US" sz="2000" b="1" dirty="0">
                <a:solidFill>
                  <a:schemeClr val="bg1"/>
                </a:solidFill>
                <a:latin typeface="Times New Roman" panose="02020603050405020304" pitchFamily="18" charset="0"/>
                <a:cs typeface="Times New Roman" panose="02020603050405020304" pitchFamily="18" charset="0"/>
              </a:rPr>
              <a:t>accuracy</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precision</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recall</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F1-score</a:t>
            </a:r>
            <a:r>
              <a:rPr lang="en-US" sz="2000" dirty="0">
                <a:solidFill>
                  <a:schemeClr val="bg1"/>
                </a:solidFill>
                <a:latin typeface="Times New Roman" panose="02020603050405020304" pitchFamily="18" charset="0"/>
                <a:cs typeface="Times New Roman" panose="02020603050405020304" pitchFamily="18" charset="0"/>
              </a:rPr>
              <a:t>. These metrics help measure how well the models can identify fake profiles. Among all models, </a:t>
            </a:r>
            <a:r>
              <a:rPr lang="en-US" sz="2000" b="1" dirty="0">
                <a:solidFill>
                  <a:schemeClr val="bg1"/>
                </a:solidFill>
                <a:latin typeface="Times New Roman" panose="02020603050405020304" pitchFamily="18" charset="0"/>
                <a:cs typeface="Times New Roman" panose="02020603050405020304" pitchFamily="18" charset="0"/>
              </a:rPr>
              <a:t>XG Boost performed the best</a:t>
            </a:r>
            <a:r>
              <a:rPr lang="en-US" sz="2000" dirty="0">
                <a:solidFill>
                  <a:schemeClr val="bg1"/>
                </a:solidFill>
                <a:latin typeface="Times New Roman" panose="02020603050405020304" pitchFamily="18" charset="0"/>
                <a:cs typeface="Times New Roman" panose="02020603050405020304" pitchFamily="18" charset="0"/>
              </a:rPr>
              <a:t>, achieving an accuracy of around </a:t>
            </a:r>
            <a:r>
              <a:rPr lang="en-US" sz="2000" b="1" dirty="0">
                <a:solidFill>
                  <a:schemeClr val="bg1"/>
                </a:solidFill>
                <a:latin typeface="Times New Roman" panose="02020603050405020304" pitchFamily="18" charset="0"/>
                <a:cs typeface="Times New Roman" panose="02020603050405020304" pitchFamily="18" charset="0"/>
              </a:rPr>
              <a:t>98.2%</a:t>
            </a:r>
            <a:r>
              <a:rPr lang="en-US" sz="2000" dirty="0">
                <a:solidFill>
                  <a:schemeClr val="bg1"/>
                </a:solidFill>
                <a:latin typeface="Times New Roman" panose="02020603050405020304" pitchFamily="18" charset="0"/>
                <a:cs typeface="Times New Roman" panose="02020603050405020304" pitchFamily="18" charset="0"/>
              </a:rPr>
              <a:t> and precision of </a:t>
            </a:r>
            <a:r>
              <a:rPr lang="en-US" sz="2000" b="1" dirty="0">
                <a:solidFill>
                  <a:schemeClr val="bg1"/>
                </a:solidFill>
                <a:latin typeface="Times New Roman" panose="02020603050405020304" pitchFamily="18" charset="0"/>
                <a:cs typeface="Times New Roman" panose="02020603050405020304" pitchFamily="18" charset="0"/>
              </a:rPr>
              <a:t>99%</a:t>
            </a:r>
            <a:r>
              <a:rPr lang="en-US" sz="2000" dirty="0">
                <a:solidFill>
                  <a:schemeClr val="bg1"/>
                </a:solidFill>
                <a:latin typeface="Times New Roman" panose="02020603050405020304" pitchFamily="18" charset="0"/>
                <a:cs typeface="Times New Roman" panose="02020603050405020304" pitchFamily="18" charset="0"/>
              </a:rPr>
              <a:t>. Techniques like </a:t>
            </a:r>
            <a:r>
              <a:rPr lang="en-US" sz="2000" b="1" dirty="0">
                <a:solidFill>
                  <a:schemeClr val="bg1"/>
                </a:solidFill>
                <a:latin typeface="Times New Roman" panose="02020603050405020304" pitchFamily="18" charset="0"/>
                <a:cs typeface="Times New Roman" panose="02020603050405020304" pitchFamily="18" charset="0"/>
              </a:rPr>
              <a:t>cross-validation</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Grid Search CV</a:t>
            </a:r>
            <a:r>
              <a:rPr lang="en-US" sz="2000" dirty="0">
                <a:solidFill>
                  <a:schemeClr val="bg1"/>
                </a:solidFill>
                <a:latin typeface="Times New Roman" panose="02020603050405020304" pitchFamily="18" charset="0"/>
                <a:cs typeface="Times New Roman" panose="02020603050405020304" pitchFamily="18" charset="0"/>
              </a:rPr>
              <a:t> were used to improve the model’s performance and avoid overfitting. This ensured the system is reliable and accurate for real-time fake profile detection.</a:t>
            </a:r>
          </a:p>
        </p:txBody>
      </p:sp>
      <p:sp>
        <p:nvSpPr>
          <p:cNvPr id="4" name="TextBox 3">
            <a:extLst>
              <a:ext uri="{FF2B5EF4-FFF2-40B4-BE49-F238E27FC236}">
                <a16:creationId xmlns:a16="http://schemas.microsoft.com/office/drawing/2014/main" id="{5E156C12-B0FC-96F2-4DEF-C3A4BC5E96AE}"/>
              </a:ext>
            </a:extLst>
          </p:cNvPr>
          <p:cNvSpPr txBox="1"/>
          <p:nvPr/>
        </p:nvSpPr>
        <p:spPr>
          <a:xfrm>
            <a:off x="433137" y="272716"/>
            <a:ext cx="4836941"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MODEL EVALUATION</a:t>
            </a:r>
          </a:p>
        </p:txBody>
      </p:sp>
      <p:pic>
        <p:nvPicPr>
          <p:cNvPr id="5" name="Picture 4">
            <a:extLst>
              <a:ext uri="{FF2B5EF4-FFF2-40B4-BE49-F238E27FC236}">
                <a16:creationId xmlns:a16="http://schemas.microsoft.com/office/drawing/2014/main" id="{527A2FD1-AC3E-0014-83B6-263C9D5A9F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441" y="3068884"/>
            <a:ext cx="4459706" cy="3070509"/>
          </a:xfrm>
          <a:prstGeom prst="rect">
            <a:avLst/>
          </a:prstGeom>
        </p:spPr>
      </p:pic>
      <p:pic>
        <p:nvPicPr>
          <p:cNvPr id="6" name="Picture 5">
            <a:extLst>
              <a:ext uri="{FF2B5EF4-FFF2-40B4-BE49-F238E27FC236}">
                <a16:creationId xmlns:a16="http://schemas.microsoft.com/office/drawing/2014/main" id="{CBC95BD0-A4BD-B78C-6D2C-AB145BAC1B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0379" y="3068884"/>
            <a:ext cx="4459706" cy="3136542"/>
          </a:xfrm>
          <a:prstGeom prst="rect">
            <a:avLst/>
          </a:prstGeom>
        </p:spPr>
      </p:pic>
    </p:spTree>
    <p:extLst>
      <p:ext uri="{BB962C8B-B14F-4D97-AF65-F5344CB8AC3E}">
        <p14:creationId xmlns:p14="http://schemas.microsoft.com/office/powerpoint/2010/main" val="195224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175E85-D7C2-09F2-2DB3-F5EBBE633BBA}"/>
              </a:ext>
            </a:extLst>
          </p:cNvPr>
          <p:cNvSpPr txBox="1"/>
          <p:nvPr/>
        </p:nvSpPr>
        <p:spPr>
          <a:xfrm>
            <a:off x="1" y="320842"/>
            <a:ext cx="9144000"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MODEL DEPLOYMENT USING FLASK</a:t>
            </a:r>
          </a:p>
        </p:txBody>
      </p:sp>
      <p:sp>
        <p:nvSpPr>
          <p:cNvPr id="5" name="TextBox 4">
            <a:extLst>
              <a:ext uri="{FF2B5EF4-FFF2-40B4-BE49-F238E27FC236}">
                <a16:creationId xmlns:a16="http://schemas.microsoft.com/office/drawing/2014/main" id="{0F620E38-5290-385D-6DE7-90B0DAEB27A6}"/>
              </a:ext>
            </a:extLst>
          </p:cNvPr>
          <p:cNvSpPr txBox="1"/>
          <p:nvPr/>
        </p:nvSpPr>
        <p:spPr>
          <a:xfrm>
            <a:off x="0" y="1267327"/>
            <a:ext cx="11983453" cy="2646948"/>
          </a:xfrm>
          <a:prstGeom prst="rect">
            <a:avLst/>
          </a:prstGeom>
          <a:noFill/>
        </p:spPr>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Step 1.Flask Web App for User Predictions</a:t>
            </a:r>
            <a:r>
              <a:rPr lang="en-US" sz="2000" dirty="0">
                <a:solidFill>
                  <a:schemeClr val="bg1"/>
                </a:solidFill>
                <a:latin typeface="Times New Roman" panose="02020603050405020304" pitchFamily="18" charset="0"/>
                <a:cs typeface="Times New Roman" panose="02020603050405020304" pitchFamily="18" charset="0"/>
              </a:rPr>
              <a:t> – A Flask-based web interface allows users to input profile data for prediction.</a:t>
            </a:r>
          </a:p>
          <a:p>
            <a:endParaRPr lang="en-US" sz="2000" dirty="0">
              <a:solidFill>
                <a:schemeClr val="bg1"/>
              </a:solidFill>
              <a:latin typeface="Times New Roman" panose="02020603050405020304" pitchFamily="18" charset="0"/>
              <a:cs typeface="Times New Roman" panose="02020603050405020304" pitchFamily="18" charset="0"/>
            </a:endParaRPr>
          </a:p>
          <a:p>
            <a:endParaRPr lang="en-US" sz="2000" dirty="0">
              <a:solidFill>
                <a:schemeClr val="bg1"/>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cs typeface="Times New Roman" panose="02020603050405020304" pitchFamily="18" charset="0"/>
              </a:rPr>
              <a:t>Step 2.</a:t>
            </a:r>
            <a:r>
              <a:rPr lang="en-US" sz="2000" b="1" dirty="0">
                <a:solidFill>
                  <a:schemeClr val="bg1"/>
                </a:solidFill>
                <a:latin typeface="Times New Roman" panose="02020603050405020304" pitchFamily="18" charset="0"/>
                <a:cs typeface="Times New Roman" panose="02020603050405020304" pitchFamily="18" charset="0"/>
              </a:rPr>
              <a:t> XG Boost Model for Fake/Real Prediction:</a:t>
            </a:r>
            <a:r>
              <a:rPr lang="en-US" sz="2000" dirty="0">
                <a:solidFill>
                  <a:schemeClr val="bg1"/>
                </a:solidFill>
                <a:latin typeface="Times New Roman" panose="02020603050405020304" pitchFamily="18" charset="0"/>
                <a:cs typeface="Times New Roman" panose="02020603050405020304" pitchFamily="18" charset="0"/>
              </a:rPr>
              <a:t> The trained XG Boost model processes input features to classify profiles as fake or real.</a:t>
            </a:r>
          </a:p>
          <a:p>
            <a:endParaRPr lang="en-US" sz="2000"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latin typeface="Times New Roman" panose="02020603050405020304" pitchFamily="18" charset="0"/>
                <a:cs typeface="Times New Roman" panose="02020603050405020304" pitchFamily="18" charset="0"/>
              </a:rPr>
              <a:t>Displaying Results</a:t>
            </a:r>
            <a:r>
              <a:rPr lang="en-US" sz="2000" dirty="0">
                <a:solidFill>
                  <a:schemeClr val="bg1"/>
                </a:solidFill>
                <a:latin typeface="Times New Roman" panose="02020603050405020304" pitchFamily="18" charset="0"/>
                <a:cs typeface="Times New Roman" panose="02020603050405020304" pitchFamily="18" charset="0"/>
              </a:rPr>
              <a:t> – The prediction outcome is displayed on the web browser  for the user.</a:t>
            </a:r>
            <a:endParaRPr lang="en-IN" sz="2000" dirty="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85ACEEC-F923-A70C-78A2-068B8F6155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25900"/>
            <a:ext cx="12192000" cy="2632099"/>
          </a:xfrm>
          <a:prstGeom prst="rect">
            <a:avLst/>
          </a:prstGeom>
        </p:spPr>
      </p:pic>
    </p:spTree>
    <p:extLst>
      <p:ext uri="{BB962C8B-B14F-4D97-AF65-F5344CB8AC3E}">
        <p14:creationId xmlns:p14="http://schemas.microsoft.com/office/powerpoint/2010/main" val="2890684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DB348E-B4EF-1F08-113B-391F87A7282C}"/>
              </a:ext>
            </a:extLst>
          </p:cNvPr>
          <p:cNvSpPr txBox="1"/>
          <p:nvPr/>
        </p:nvSpPr>
        <p:spPr>
          <a:xfrm>
            <a:off x="320842" y="240632"/>
            <a:ext cx="3553574"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RESULTS</a:t>
            </a:r>
          </a:p>
        </p:txBody>
      </p:sp>
      <p:pic>
        <p:nvPicPr>
          <p:cNvPr id="3" name="Picture 2">
            <a:extLst>
              <a:ext uri="{FF2B5EF4-FFF2-40B4-BE49-F238E27FC236}">
                <a16:creationId xmlns:a16="http://schemas.microsoft.com/office/drawing/2014/main" id="{56AAB051-CB96-E253-DB10-5972151B59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843" y="825407"/>
            <a:ext cx="5133474" cy="2944849"/>
          </a:xfrm>
          <a:prstGeom prst="rect">
            <a:avLst/>
          </a:prstGeom>
        </p:spPr>
      </p:pic>
      <p:pic>
        <p:nvPicPr>
          <p:cNvPr id="4" name="Picture 3">
            <a:extLst>
              <a:ext uri="{FF2B5EF4-FFF2-40B4-BE49-F238E27FC236}">
                <a16:creationId xmlns:a16="http://schemas.microsoft.com/office/drawing/2014/main" id="{AAC5EBE3-FFE4-1DA4-0D37-33A037D6B8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4949" y="874917"/>
            <a:ext cx="5566611" cy="2713120"/>
          </a:xfrm>
          <a:prstGeom prst="rect">
            <a:avLst/>
          </a:prstGeom>
        </p:spPr>
      </p:pic>
      <p:pic>
        <p:nvPicPr>
          <p:cNvPr id="7" name="Picture 6">
            <a:extLst>
              <a:ext uri="{FF2B5EF4-FFF2-40B4-BE49-F238E27FC236}">
                <a16:creationId xmlns:a16="http://schemas.microsoft.com/office/drawing/2014/main" id="{74527B0B-459C-919B-E1AA-478C718346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0716" y="3637547"/>
            <a:ext cx="5807242" cy="3005566"/>
          </a:xfrm>
          <a:prstGeom prst="rect">
            <a:avLst/>
          </a:prstGeom>
        </p:spPr>
      </p:pic>
    </p:spTree>
    <p:extLst>
      <p:ext uri="{BB962C8B-B14F-4D97-AF65-F5344CB8AC3E}">
        <p14:creationId xmlns:p14="http://schemas.microsoft.com/office/powerpoint/2010/main" val="1264350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F22D60-AC9F-3619-62D1-97C29B379C68}"/>
              </a:ext>
            </a:extLst>
          </p:cNvPr>
          <p:cNvSpPr txBox="1"/>
          <p:nvPr/>
        </p:nvSpPr>
        <p:spPr>
          <a:xfrm>
            <a:off x="272715" y="3964116"/>
            <a:ext cx="6994357"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CONCLUSION</a:t>
            </a:r>
            <a:endParaRPr lang="en-IN" sz="3200" dirty="0">
              <a:solidFill>
                <a:schemeClr val="bg1"/>
              </a:solidFill>
            </a:endParaRPr>
          </a:p>
        </p:txBody>
      </p:sp>
      <p:sp>
        <p:nvSpPr>
          <p:cNvPr id="5" name="TextBox 4">
            <a:extLst>
              <a:ext uri="{FF2B5EF4-FFF2-40B4-BE49-F238E27FC236}">
                <a16:creationId xmlns:a16="http://schemas.microsoft.com/office/drawing/2014/main" id="{DB887544-A12F-44D6-DDC7-297DAF9C92FA}"/>
              </a:ext>
            </a:extLst>
          </p:cNvPr>
          <p:cNvSpPr txBox="1"/>
          <p:nvPr/>
        </p:nvSpPr>
        <p:spPr>
          <a:xfrm rot="10800000" flipV="1">
            <a:off x="256674" y="4743111"/>
            <a:ext cx="11678652" cy="1323439"/>
          </a:xfrm>
          <a:prstGeom prst="rect">
            <a:avLst/>
          </a:prstGeom>
          <a:noFill/>
        </p:spPr>
        <p:txBody>
          <a:bodyPr wrap="square">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This project successfully detects fake profiles using machine learning, with </a:t>
            </a:r>
            <a:r>
              <a:rPr lang="en-US" sz="2000" b="1" dirty="0" err="1">
                <a:solidFill>
                  <a:schemeClr val="bg1"/>
                </a:solidFill>
                <a:latin typeface="Times New Roman" panose="02020603050405020304" pitchFamily="18" charset="0"/>
                <a:cs typeface="Times New Roman" panose="02020603050405020304" pitchFamily="18" charset="0"/>
              </a:rPr>
              <a:t>XGBoost</a:t>
            </a:r>
            <a:r>
              <a:rPr lang="en-US" sz="2000" dirty="0">
                <a:solidFill>
                  <a:schemeClr val="bg1"/>
                </a:solidFill>
                <a:latin typeface="Times New Roman" panose="02020603050405020304" pitchFamily="18" charset="0"/>
                <a:cs typeface="Times New Roman" panose="02020603050405020304" pitchFamily="18" charset="0"/>
              </a:rPr>
              <a:t> providing high accuracy. The system analyzes user profile features and is deployed using </a:t>
            </a:r>
            <a:r>
              <a:rPr lang="en-US" sz="2000" b="1" dirty="0">
                <a:solidFill>
                  <a:schemeClr val="bg1"/>
                </a:solidFill>
                <a:latin typeface="Times New Roman" panose="02020603050405020304" pitchFamily="18" charset="0"/>
                <a:cs typeface="Times New Roman" panose="02020603050405020304" pitchFamily="18" charset="0"/>
              </a:rPr>
              <a:t>Flask</a:t>
            </a:r>
            <a:r>
              <a:rPr lang="en-US" sz="2000" dirty="0">
                <a:solidFill>
                  <a:schemeClr val="bg1"/>
                </a:solidFill>
                <a:latin typeface="Times New Roman" panose="02020603050405020304" pitchFamily="18" charset="0"/>
                <a:cs typeface="Times New Roman" panose="02020603050405020304" pitchFamily="18" charset="0"/>
              </a:rPr>
              <a:t> for real-time predictions. It enhances </a:t>
            </a:r>
            <a:r>
              <a:rPr lang="en-US" sz="2000" b="1" dirty="0">
                <a:solidFill>
                  <a:schemeClr val="bg1"/>
                </a:solidFill>
                <a:latin typeface="Times New Roman" panose="02020603050405020304" pitchFamily="18" charset="0"/>
                <a:cs typeface="Times New Roman" panose="02020603050405020304" pitchFamily="18" charset="0"/>
              </a:rPr>
              <a:t>online security</a:t>
            </a:r>
            <a:r>
              <a:rPr lang="en-US" sz="2000" dirty="0">
                <a:solidFill>
                  <a:schemeClr val="bg1"/>
                </a:solidFill>
                <a:latin typeface="Times New Roman" panose="02020603050405020304" pitchFamily="18" charset="0"/>
                <a:cs typeface="Times New Roman" panose="02020603050405020304" pitchFamily="18" charset="0"/>
              </a:rPr>
              <a:t> by identifying fraudulent accounts, helping maintain genuine user interactions. Future work can explore larger datasets and advanced techniques for improved detection</a:t>
            </a:r>
            <a:endParaRPr lang="en-IN" sz="2000" dirty="0">
              <a:solidFill>
                <a:schemeClr val="bg1"/>
              </a:solidFill>
            </a:endParaRPr>
          </a:p>
        </p:txBody>
      </p:sp>
      <p:pic>
        <p:nvPicPr>
          <p:cNvPr id="6" name="Picture 5">
            <a:extLst>
              <a:ext uri="{FF2B5EF4-FFF2-40B4-BE49-F238E27FC236}">
                <a16:creationId xmlns:a16="http://schemas.microsoft.com/office/drawing/2014/main" id="{0B613F43-F1A8-B069-09BB-5052F3B46D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
            <a:ext cx="12192000" cy="3769894"/>
          </a:xfrm>
          <a:prstGeom prst="rect">
            <a:avLst/>
          </a:prstGeom>
        </p:spPr>
      </p:pic>
    </p:spTree>
    <p:extLst>
      <p:ext uri="{BB962C8B-B14F-4D97-AF65-F5344CB8AC3E}">
        <p14:creationId xmlns:p14="http://schemas.microsoft.com/office/powerpoint/2010/main" val="1061804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B92B74-E0B6-7F06-27FD-6083A4940AD1}"/>
              </a:ext>
            </a:extLst>
          </p:cNvPr>
          <p:cNvSpPr txBox="1"/>
          <p:nvPr/>
        </p:nvSpPr>
        <p:spPr>
          <a:xfrm>
            <a:off x="272716" y="417096"/>
            <a:ext cx="8871284"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FUTURE SCOPE</a:t>
            </a:r>
          </a:p>
        </p:txBody>
      </p:sp>
      <p:sp>
        <p:nvSpPr>
          <p:cNvPr id="5" name="TextBox 4">
            <a:extLst>
              <a:ext uri="{FF2B5EF4-FFF2-40B4-BE49-F238E27FC236}">
                <a16:creationId xmlns:a16="http://schemas.microsoft.com/office/drawing/2014/main" id="{C7008629-1034-CD26-4513-3CF5819A04B5}"/>
              </a:ext>
            </a:extLst>
          </p:cNvPr>
          <p:cNvSpPr txBox="1"/>
          <p:nvPr/>
        </p:nvSpPr>
        <p:spPr>
          <a:xfrm>
            <a:off x="481263" y="1001871"/>
            <a:ext cx="8662737" cy="4693519"/>
          </a:xfrm>
          <a:prstGeom prst="rect">
            <a:avLst/>
          </a:prstGeom>
          <a:noFill/>
        </p:spPr>
        <p:txBody>
          <a:bodyPr wrap="square">
            <a:spAutoFit/>
          </a:bodyPr>
          <a:lstStyle/>
          <a:p>
            <a:r>
              <a:rPr lang="en-IN" sz="3200" dirty="0">
                <a:solidFill>
                  <a:schemeClr val="bg1"/>
                </a:solidFill>
                <a:latin typeface="Times New Roman" panose="02020603050405020304" pitchFamily="18" charset="0"/>
                <a:cs typeface="Times New Roman" panose="02020603050405020304" pitchFamily="18" charset="0"/>
              </a:rPr>
              <a:t>1.Enhancing Model Performance</a:t>
            </a:r>
          </a:p>
          <a:p>
            <a:endParaRPr lang="en-IN" sz="3200" dirty="0">
              <a:solidFill>
                <a:schemeClr val="bg1"/>
              </a:solidFill>
              <a:latin typeface="Times New Roman" panose="02020603050405020304" pitchFamily="18" charset="0"/>
              <a:cs typeface="Times New Roman" panose="02020603050405020304" pitchFamily="18" charset="0"/>
            </a:endParaRPr>
          </a:p>
          <a:p>
            <a:r>
              <a:rPr lang="en-IN" sz="3200" dirty="0">
                <a:solidFill>
                  <a:schemeClr val="bg1"/>
                </a:solidFill>
                <a:latin typeface="Times New Roman" panose="02020603050405020304" pitchFamily="18" charset="0"/>
                <a:cs typeface="Times New Roman" panose="02020603050405020304" pitchFamily="18" charset="0"/>
              </a:rPr>
              <a:t>2. Real-time Detection</a:t>
            </a:r>
          </a:p>
          <a:p>
            <a:endParaRPr lang="en-IN" sz="3200" dirty="0">
              <a:solidFill>
                <a:schemeClr val="bg1"/>
              </a:solidFill>
              <a:latin typeface="Times New Roman" panose="02020603050405020304" pitchFamily="18" charset="0"/>
              <a:cs typeface="Times New Roman" panose="02020603050405020304" pitchFamily="18" charset="0"/>
            </a:endParaRPr>
          </a:p>
          <a:p>
            <a:r>
              <a:rPr lang="en-IN" sz="3200" dirty="0">
                <a:solidFill>
                  <a:schemeClr val="bg1"/>
                </a:solidFill>
                <a:latin typeface="Times New Roman" panose="02020603050405020304" pitchFamily="18" charset="0"/>
                <a:cs typeface="Times New Roman" panose="02020603050405020304" pitchFamily="18" charset="0"/>
              </a:rPr>
              <a:t>3. Feature Expansion</a:t>
            </a:r>
          </a:p>
          <a:p>
            <a:endParaRPr lang="en-IN" sz="3200" dirty="0">
              <a:solidFill>
                <a:schemeClr val="bg1"/>
              </a:solidFill>
              <a:latin typeface="Times New Roman" panose="02020603050405020304" pitchFamily="18" charset="0"/>
              <a:cs typeface="Times New Roman" panose="02020603050405020304" pitchFamily="18" charset="0"/>
            </a:endParaRPr>
          </a:p>
          <a:p>
            <a:r>
              <a:rPr lang="en-IN" sz="3200" dirty="0">
                <a:solidFill>
                  <a:schemeClr val="bg1"/>
                </a:solidFill>
                <a:latin typeface="Times New Roman" panose="02020603050405020304" pitchFamily="18" charset="0"/>
                <a:cs typeface="Times New Roman" panose="02020603050405020304" pitchFamily="18" charset="0"/>
              </a:rPr>
              <a:t>4. Scalability</a:t>
            </a:r>
          </a:p>
          <a:p>
            <a:endParaRPr lang="en-IN" sz="3200" dirty="0">
              <a:solidFill>
                <a:schemeClr val="bg1"/>
              </a:solidFill>
              <a:latin typeface="Times New Roman" panose="02020603050405020304" pitchFamily="18" charset="0"/>
              <a:cs typeface="Times New Roman" panose="02020603050405020304" pitchFamily="18" charset="0"/>
            </a:endParaRPr>
          </a:p>
          <a:p>
            <a:r>
              <a:rPr lang="en-IN" sz="3200" dirty="0">
                <a:solidFill>
                  <a:schemeClr val="bg1"/>
                </a:solidFill>
                <a:latin typeface="Times New Roman" panose="02020603050405020304" pitchFamily="18" charset="0"/>
                <a:cs typeface="Times New Roman" panose="02020603050405020304" pitchFamily="18" charset="0"/>
              </a:rPr>
              <a:t>5. Automation &amp; Adaptability</a:t>
            </a:r>
          </a:p>
        </p:txBody>
      </p:sp>
    </p:spTree>
    <p:extLst>
      <p:ext uri="{BB962C8B-B14F-4D97-AF65-F5344CB8AC3E}">
        <p14:creationId xmlns:p14="http://schemas.microsoft.com/office/powerpoint/2010/main" val="4142869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A425F8-53A1-CE5E-275A-61A810BCC4E5}"/>
              </a:ext>
            </a:extLst>
          </p:cNvPr>
          <p:cNvSpPr txBox="1"/>
          <p:nvPr/>
        </p:nvSpPr>
        <p:spPr>
          <a:xfrm>
            <a:off x="288758" y="385012"/>
            <a:ext cx="8855242"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REFERENCES</a:t>
            </a:r>
          </a:p>
        </p:txBody>
      </p:sp>
      <p:sp>
        <p:nvSpPr>
          <p:cNvPr id="6" name="Rectangle 3">
            <a:extLst>
              <a:ext uri="{FF2B5EF4-FFF2-40B4-BE49-F238E27FC236}">
                <a16:creationId xmlns:a16="http://schemas.microsoft.com/office/drawing/2014/main" id="{DCE53811-F99A-5457-6A9C-986A37424FAD}"/>
              </a:ext>
            </a:extLst>
          </p:cNvPr>
          <p:cNvSpPr>
            <a:spLocks noChangeArrowheads="1"/>
          </p:cNvSpPr>
          <p:nvPr/>
        </p:nvSpPr>
        <p:spPr bwMode="auto">
          <a:xfrm rot="10800000" flipV="1">
            <a:off x="417094" y="969947"/>
            <a:ext cx="11149263"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Joshi, P. et al. (2021)</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"Hybrid Machine Learning Approach for Fake Profile Detection on Social Media,"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International Journal of Computer Applications</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Shehzad, B. et al. (2022)</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"Detecting Fake Profiles Using Ensemble Machine Learning Techniques on Large-Scale Data,"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Journal of Big Data Analytics</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Bhattacharya, S. et al. (2021)</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"Improving Fake Profile Classification Using Feature Engineering and Ensemble Models,"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IEEE Access</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Romanov, A. et al. (2021)</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"A Review on Ensemble Learning Approaches for Fake Social Media Profile Detection,"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ACM Computing Surveys</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Singh, R. et al. (2022)</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"Deep Ensemble Learning Framework for Detecting Fake Profiles on Twitter,"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International Journal of Information Technology</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Purba</a:t>
            </a: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J. et al. (2020)</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"Instagram Fake Follower Detection Using Ensemble Classification Models,"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Elsevier Procedia Computer Science</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2781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4EF161-48F9-F913-18F4-E643EBD6BA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760" y="618615"/>
            <a:ext cx="10078787" cy="5671034"/>
          </a:xfrm>
          <a:prstGeom prst="rect">
            <a:avLst/>
          </a:prstGeom>
        </p:spPr>
      </p:pic>
    </p:spTree>
    <p:extLst>
      <p:ext uri="{BB962C8B-B14F-4D97-AF65-F5344CB8AC3E}">
        <p14:creationId xmlns:p14="http://schemas.microsoft.com/office/powerpoint/2010/main" val="3779300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534</TotalTime>
  <Words>1840</Words>
  <Application>Microsoft Office PowerPoint</Application>
  <PresentationFormat>Widescreen</PresentationFormat>
  <Paragraphs>140</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Cabin</vt:lpstr>
      <vt:lpstr>Calibri</vt:lpstr>
      <vt:lpstr>Calibri Light</vt:lpstr>
      <vt:lpstr>Times New Roman</vt:lpstr>
      <vt:lpstr>Office Theme</vt:lpstr>
      <vt:lpstr>Dhanekula Institute of Engineering and Technology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sowmya mettapalli</dc:creator>
  <cp:lastModifiedBy>sowmya mettapalli</cp:lastModifiedBy>
  <cp:revision>1</cp:revision>
  <dcterms:created xsi:type="dcterms:W3CDTF">2025-04-16T05:41:53Z</dcterms:created>
  <dcterms:modified xsi:type="dcterms:W3CDTF">2025-04-16T14:36:35Z</dcterms:modified>
</cp:coreProperties>
</file>